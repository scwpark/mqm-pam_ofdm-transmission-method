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</p:sldIdLst>
  <p:sldSz cx="12161838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86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85FD6749-A45A-502F-526A-32660AA4E3C4}"/>
              </a:ext>
            </a:extLst>
          </p:cNvPr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dirty="0">
                <a:solidFill>
                  <a:srgbClr val="FFFFFF"/>
                </a:solidFill>
              </a:rPr>
              <a:t>MQM ALU  </a:t>
            </a:r>
            <a:r>
              <a:rPr lang="en-US" sz="2000" b="1" dirty="0">
                <a:solidFill>
                  <a:srgbClr val="FFFFFF"/>
                </a:solidFill>
              </a:rPr>
              <a:t>Core A: 16-bit</a:t>
            </a:r>
            <a:r>
              <a:rPr sz="2000" b="1" dirty="0">
                <a:solidFill>
                  <a:srgbClr val="FFFFFF"/>
                </a:solidFill>
              </a:rPr>
              <a:t> 10 GHz   Method-B   Circuit Block Diagram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6DF8C6-6D0D-D02F-8FED-2B17CAE9A850}"/>
              </a:ext>
            </a:extLst>
          </p:cNvPr>
          <p:cNvSpPr txBox="1"/>
          <p:nvPr/>
        </p:nvSpPr>
        <p:spPr>
          <a:xfrm>
            <a:off x="274320" y="521542"/>
            <a:ext cx="11612880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1" dirty="0">
                <a:solidFill>
                  <a:srgbClr val="E65100"/>
                </a:solidFill>
              </a:rPr>
              <a:t>Method-B:  1st DATA(50ps) -&gt; NC(50ps)  |  2nd DATA(50ps) -&gt; NC(50ps)  |  3rd DATA(50ps) -&gt; NC(50ps)   50:50 ratio — Max Reliability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220283-46FF-4D7F-9402-2947A6F41D12}"/>
              </a:ext>
            </a:extLst>
          </p:cNvPr>
          <p:cNvSpPr txBox="1"/>
          <p:nvPr/>
        </p:nvSpPr>
        <p:spPr>
          <a:xfrm>
            <a:off x="137160" y="782146"/>
            <a:ext cx="1188720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>
                <a:solidFill>
                  <a:srgbClr val="1565C0"/>
                </a:solidFill>
              </a:rPr>
              <a:t>(1) INPUT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E8F1D0-F341-EE61-D6B2-7B11AD066EEA}"/>
              </a:ext>
            </a:extLst>
          </p:cNvPr>
          <p:cNvSpPr txBox="1"/>
          <p:nvPr/>
        </p:nvSpPr>
        <p:spPr>
          <a:xfrm>
            <a:off x="1463040" y="782146"/>
            <a:ext cx="1691640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>
                <a:solidFill>
                  <a:srgbClr val="00695C"/>
                </a:solidFill>
              </a:rPr>
              <a:t>(2) FA SYNTH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D6BDE7-2496-A6D9-79FA-B6E718CD60D0}"/>
              </a:ext>
            </a:extLst>
          </p:cNvPr>
          <p:cNvSpPr txBox="1"/>
          <p:nvPr/>
        </p:nvSpPr>
        <p:spPr>
          <a:xfrm>
            <a:off x="3291840" y="782146"/>
            <a:ext cx="1371600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>
                <a:solidFill>
                  <a:srgbClr val="00838F"/>
                </a:solidFill>
              </a:rPr>
              <a:t>(3) DIFF. OUTPUT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001816-3D0D-BB06-6EE8-FE35FF4B0C3E}"/>
              </a:ext>
            </a:extLst>
          </p:cNvPr>
          <p:cNvSpPr txBox="1"/>
          <p:nvPr/>
        </p:nvSpPr>
        <p:spPr>
          <a:xfrm>
            <a:off x="4846320" y="782146"/>
            <a:ext cx="3200400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>
                <a:solidFill>
                  <a:srgbClr val="37474F"/>
                </a:solidFill>
              </a:rPr>
              <a:t>(4) WIRE  12mm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80EE04-7115-8533-6CCD-074A9679F490}"/>
              </a:ext>
            </a:extLst>
          </p:cNvPr>
          <p:cNvSpPr txBox="1"/>
          <p:nvPr/>
        </p:nvSpPr>
        <p:spPr>
          <a:xfrm>
            <a:off x="8138160" y="782146"/>
            <a:ext cx="1737360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>
                <a:solidFill>
                  <a:srgbClr val="2E7D32"/>
                </a:solidFill>
              </a:rPr>
              <a:t>(5) DATA READ @9mm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40703D-E92B-8C08-4D85-C7FB86BE1843}"/>
              </a:ext>
            </a:extLst>
          </p:cNvPr>
          <p:cNvSpPr txBox="1"/>
          <p:nvPr/>
        </p:nvSpPr>
        <p:spPr>
          <a:xfrm>
            <a:off x="10012680" y="782146"/>
            <a:ext cx="2011680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>
                <a:solidFill>
                  <a:srgbClr val="E65100"/>
                </a:solidFill>
              </a:rPr>
              <a:t>(6) NC SHORT @12mm</a:t>
            </a:r>
          </a:p>
        </p:txBody>
      </p:sp>
      <p:sp>
        <p:nvSpPr>
          <p:cNvPr id="10" name="Rectangle 10">
            <a:extLst>
              <a:ext uri="{FF2B5EF4-FFF2-40B4-BE49-F238E27FC236}">
                <a16:creationId xmlns:a16="http://schemas.microsoft.com/office/drawing/2014/main" id="{19D9E0FA-6E9D-AC8E-A5E8-C644D0E1FF98}"/>
              </a:ext>
            </a:extLst>
          </p:cNvPr>
          <p:cNvSpPr/>
          <p:nvPr/>
        </p:nvSpPr>
        <p:spPr>
          <a:xfrm>
            <a:off x="137160" y="1051560"/>
            <a:ext cx="1188720" cy="5943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W1  (2 Byte)
F1(8b)+A1(8b)</a:t>
            </a:r>
          </a:p>
        </p:txBody>
      </p:sp>
      <p:sp>
        <p:nvSpPr>
          <p:cNvPr id="11" name="Rectangle 11">
            <a:extLst>
              <a:ext uri="{FF2B5EF4-FFF2-40B4-BE49-F238E27FC236}">
                <a16:creationId xmlns:a16="http://schemas.microsoft.com/office/drawing/2014/main" id="{C3FFD259-29FA-EFEE-2632-C44057824479}"/>
              </a:ext>
            </a:extLst>
          </p:cNvPr>
          <p:cNvSpPr/>
          <p:nvPr/>
        </p:nvSpPr>
        <p:spPr>
          <a:xfrm>
            <a:off x="137160" y="1874519"/>
            <a:ext cx="1188720" cy="59436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W2  (2 Byte)
F2(8b)+A2(8b)</a:t>
            </a:r>
          </a:p>
        </p:txBody>
      </p:sp>
      <p:sp>
        <p:nvSpPr>
          <p:cNvPr id="12" name="Rectangle 12">
            <a:extLst>
              <a:ext uri="{FF2B5EF4-FFF2-40B4-BE49-F238E27FC236}">
                <a16:creationId xmlns:a16="http://schemas.microsoft.com/office/drawing/2014/main" id="{55357D57-92DD-10E2-F373-261AF837094C}"/>
              </a:ext>
            </a:extLst>
          </p:cNvPr>
          <p:cNvSpPr/>
          <p:nvPr/>
        </p:nvSpPr>
        <p:spPr>
          <a:xfrm>
            <a:off x="1463040" y="1188720"/>
            <a:ext cx="1691640" cy="114300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FA SYNTH
W3=W1+W2
F(8b)+A(8b)
16bit/cycle</a:t>
            </a:r>
          </a:p>
        </p:txBody>
      </p:sp>
      <p:cxnSp>
        <p:nvCxnSpPr>
          <p:cNvPr id="13" name="Connector 13">
            <a:extLst>
              <a:ext uri="{FF2B5EF4-FFF2-40B4-BE49-F238E27FC236}">
                <a16:creationId xmlns:a16="http://schemas.microsoft.com/office/drawing/2014/main" id="{6E06EBE5-0FDC-7AF9-2194-84ABFD6B4182}"/>
              </a:ext>
            </a:extLst>
          </p:cNvPr>
          <p:cNvCxnSpPr/>
          <p:nvPr/>
        </p:nvCxnSpPr>
        <p:spPr>
          <a:xfrm>
            <a:off x="1325880" y="1344168"/>
            <a:ext cx="137160" cy="0"/>
          </a:xfrm>
          <a:prstGeom prst="line">
            <a:avLst/>
          </a:prstGeom>
          <a:ln w="25400">
            <a:solidFill>
              <a:srgbClr val="1565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4">
            <a:extLst>
              <a:ext uri="{FF2B5EF4-FFF2-40B4-BE49-F238E27FC236}">
                <a16:creationId xmlns:a16="http://schemas.microsoft.com/office/drawing/2014/main" id="{8E67A016-3957-0693-95D4-E71A58A6E84A}"/>
              </a:ext>
            </a:extLst>
          </p:cNvPr>
          <p:cNvCxnSpPr/>
          <p:nvPr/>
        </p:nvCxnSpPr>
        <p:spPr>
          <a:xfrm>
            <a:off x="1325880" y="2167128"/>
            <a:ext cx="137160" cy="0"/>
          </a:xfrm>
          <a:prstGeom prst="line">
            <a:avLst/>
          </a:prstGeom>
          <a:ln w="25400">
            <a:solidFill>
              <a:srgbClr val="6A1B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5">
            <a:extLst>
              <a:ext uri="{FF2B5EF4-FFF2-40B4-BE49-F238E27FC236}">
                <a16:creationId xmlns:a16="http://schemas.microsoft.com/office/drawing/2014/main" id="{43B93CC2-9ECD-4067-7330-9BC51AAA2857}"/>
              </a:ext>
            </a:extLst>
          </p:cNvPr>
          <p:cNvSpPr/>
          <p:nvPr/>
        </p:nvSpPr>
        <p:spPr>
          <a:xfrm>
            <a:off x="3291840" y="1051560"/>
            <a:ext cx="1371600" cy="594360"/>
          </a:xfrm>
          <a:prstGeom prst="rect">
            <a:avLst/>
          </a:prstGeom>
          <a:solidFill>
            <a:srgbClr val="0083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+W3
Synth Wave</a:t>
            </a:r>
          </a:p>
        </p:txBody>
      </p:sp>
      <p:sp>
        <p:nvSpPr>
          <p:cNvPr id="16" name="Rectangle 16">
            <a:extLst>
              <a:ext uri="{FF2B5EF4-FFF2-40B4-BE49-F238E27FC236}">
                <a16:creationId xmlns:a16="http://schemas.microsoft.com/office/drawing/2014/main" id="{39309F26-5D56-C678-19C4-82318EEAF769}"/>
              </a:ext>
            </a:extLst>
          </p:cNvPr>
          <p:cNvSpPr/>
          <p:nvPr/>
        </p:nvSpPr>
        <p:spPr>
          <a:xfrm>
            <a:off x="3291840" y="1874519"/>
            <a:ext cx="1371600" cy="594360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-W3
Inv. Phase</a:t>
            </a:r>
          </a:p>
        </p:txBody>
      </p:sp>
      <p:cxnSp>
        <p:nvCxnSpPr>
          <p:cNvPr id="17" name="Connector 17">
            <a:extLst>
              <a:ext uri="{FF2B5EF4-FFF2-40B4-BE49-F238E27FC236}">
                <a16:creationId xmlns:a16="http://schemas.microsoft.com/office/drawing/2014/main" id="{D2246565-AA31-49C0-97BE-B992469A8820}"/>
              </a:ext>
            </a:extLst>
          </p:cNvPr>
          <p:cNvCxnSpPr/>
          <p:nvPr/>
        </p:nvCxnSpPr>
        <p:spPr>
          <a:xfrm>
            <a:off x="3154680" y="1344168"/>
            <a:ext cx="137160" cy="0"/>
          </a:xfrm>
          <a:prstGeom prst="line">
            <a:avLst/>
          </a:prstGeom>
          <a:ln w="25400">
            <a:solidFill>
              <a:srgbClr val="0083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8">
            <a:extLst>
              <a:ext uri="{FF2B5EF4-FFF2-40B4-BE49-F238E27FC236}">
                <a16:creationId xmlns:a16="http://schemas.microsoft.com/office/drawing/2014/main" id="{49B3ADB4-3DDD-27F1-85F1-C0E2E81C026F}"/>
              </a:ext>
            </a:extLst>
          </p:cNvPr>
          <p:cNvCxnSpPr/>
          <p:nvPr/>
        </p:nvCxnSpPr>
        <p:spPr>
          <a:xfrm>
            <a:off x="3154680" y="2167128"/>
            <a:ext cx="137160" cy="0"/>
          </a:xfrm>
          <a:prstGeom prst="line">
            <a:avLst/>
          </a:prstGeom>
          <a:ln w="25400">
            <a:solidFill>
              <a:srgbClr val="BF36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9">
            <a:extLst>
              <a:ext uri="{FF2B5EF4-FFF2-40B4-BE49-F238E27FC236}">
                <a16:creationId xmlns:a16="http://schemas.microsoft.com/office/drawing/2014/main" id="{58CAD29E-9425-7D59-BF20-FBF854BD3817}"/>
              </a:ext>
            </a:extLst>
          </p:cNvPr>
          <p:cNvCxnSpPr/>
          <p:nvPr/>
        </p:nvCxnSpPr>
        <p:spPr>
          <a:xfrm>
            <a:off x="4800600" y="1344168"/>
            <a:ext cx="3291840" cy="0"/>
          </a:xfrm>
          <a:prstGeom prst="line">
            <a:avLst/>
          </a:prstGeom>
          <a:ln w="38100">
            <a:solidFill>
              <a:srgbClr val="0083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20">
            <a:extLst>
              <a:ext uri="{FF2B5EF4-FFF2-40B4-BE49-F238E27FC236}">
                <a16:creationId xmlns:a16="http://schemas.microsoft.com/office/drawing/2014/main" id="{FCD541DA-3DF0-C604-5EC8-721CD9D2F4F6}"/>
              </a:ext>
            </a:extLst>
          </p:cNvPr>
          <p:cNvCxnSpPr/>
          <p:nvPr/>
        </p:nvCxnSpPr>
        <p:spPr>
          <a:xfrm>
            <a:off x="4800600" y="2167128"/>
            <a:ext cx="3291840" cy="0"/>
          </a:xfrm>
          <a:prstGeom prst="line">
            <a:avLst/>
          </a:prstGeom>
          <a:ln w="38100">
            <a:solidFill>
              <a:srgbClr val="BF36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1">
            <a:extLst>
              <a:ext uri="{FF2B5EF4-FFF2-40B4-BE49-F238E27FC236}">
                <a16:creationId xmlns:a16="http://schemas.microsoft.com/office/drawing/2014/main" id="{67E7D712-B039-1D9B-6825-2DBBD952464C}"/>
              </a:ext>
            </a:extLst>
          </p:cNvPr>
          <p:cNvCxnSpPr/>
          <p:nvPr/>
        </p:nvCxnSpPr>
        <p:spPr>
          <a:xfrm>
            <a:off x="4663440" y="1344168"/>
            <a:ext cx="137160" cy="0"/>
          </a:xfrm>
          <a:prstGeom prst="line">
            <a:avLst/>
          </a:prstGeom>
          <a:ln w="25400">
            <a:solidFill>
              <a:srgbClr val="0083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2">
            <a:extLst>
              <a:ext uri="{FF2B5EF4-FFF2-40B4-BE49-F238E27FC236}">
                <a16:creationId xmlns:a16="http://schemas.microsoft.com/office/drawing/2014/main" id="{77024518-BA1C-76F2-7B81-2114657B1737}"/>
              </a:ext>
            </a:extLst>
          </p:cNvPr>
          <p:cNvCxnSpPr/>
          <p:nvPr/>
        </p:nvCxnSpPr>
        <p:spPr>
          <a:xfrm>
            <a:off x="4663440" y="2167128"/>
            <a:ext cx="137160" cy="0"/>
          </a:xfrm>
          <a:prstGeom prst="line">
            <a:avLst/>
          </a:prstGeom>
          <a:ln w="25400">
            <a:solidFill>
              <a:srgbClr val="BF36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42E2E216-9938-CB19-DD68-F5392CF2C461}"/>
              </a:ext>
            </a:extLst>
          </p:cNvPr>
          <p:cNvSpPr txBox="1"/>
          <p:nvPr/>
        </p:nvSpPr>
        <p:spPr>
          <a:xfrm>
            <a:off x="4800600" y="1111330"/>
            <a:ext cx="1828800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>
                <a:solidFill>
                  <a:srgbClr val="00838F"/>
                </a:solidFill>
              </a:rPr>
              <a:t>Wire 1  (+W3)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1D201B6-0DE1-CE28-356D-708E318E4947}"/>
              </a:ext>
            </a:extLst>
          </p:cNvPr>
          <p:cNvSpPr txBox="1"/>
          <p:nvPr/>
        </p:nvSpPr>
        <p:spPr>
          <a:xfrm>
            <a:off x="4800600" y="2181178"/>
            <a:ext cx="1828800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>
                <a:solidFill>
                  <a:srgbClr val="BF360C"/>
                </a:solidFill>
              </a:rPr>
              <a:t>Wire 2  (-W3)</a:t>
            </a:r>
          </a:p>
        </p:txBody>
      </p:sp>
      <p:cxnSp>
        <p:nvCxnSpPr>
          <p:cNvPr id="25" name="Connector 25">
            <a:extLst>
              <a:ext uri="{FF2B5EF4-FFF2-40B4-BE49-F238E27FC236}">
                <a16:creationId xmlns:a16="http://schemas.microsoft.com/office/drawing/2014/main" id="{847029DC-203E-AAFE-5CE3-954DECA67D7D}"/>
              </a:ext>
            </a:extLst>
          </p:cNvPr>
          <p:cNvCxnSpPr/>
          <p:nvPr/>
        </p:nvCxnSpPr>
        <p:spPr>
          <a:xfrm>
            <a:off x="4800600" y="1252728"/>
            <a:ext cx="0" cy="1581912"/>
          </a:xfrm>
          <a:prstGeom prst="line">
            <a:avLst/>
          </a:prstGeom>
          <a:ln w="12700">
            <a:solidFill>
              <a:srgbClr val="B0BE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5DCE16BA-33D5-B84C-5F32-77A0FE41FD2D}"/>
              </a:ext>
            </a:extLst>
          </p:cNvPr>
          <p:cNvSpPr txBox="1"/>
          <p:nvPr/>
        </p:nvSpPr>
        <p:spPr>
          <a:xfrm>
            <a:off x="4617720" y="2821257"/>
            <a:ext cx="512064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 i="0" dirty="0">
                <a:solidFill>
                  <a:srgbClr val="B0BEC5"/>
                </a:solidFill>
              </a:rPr>
              <a:t>0mm</a:t>
            </a:r>
          </a:p>
        </p:txBody>
      </p:sp>
      <p:cxnSp>
        <p:nvCxnSpPr>
          <p:cNvPr id="27" name="Connector 27">
            <a:extLst>
              <a:ext uri="{FF2B5EF4-FFF2-40B4-BE49-F238E27FC236}">
                <a16:creationId xmlns:a16="http://schemas.microsoft.com/office/drawing/2014/main" id="{BA6A9B91-5458-9CBE-71A3-D94C40D42E16}"/>
              </a:ext>
            </a:extLst>
          </p:cNvPr>
          <p:cNvCxnSpPr/>
          <p:nvPr/>
        </p:nvCxnSpPr>
        <p:spPr>
          <a:xfrm>
            <a:off x="5623560" y="1252728"/>
            <a:ext cx="0" cy="1581912"/>
          </a:xfrm>
          <a:prstGeom prst="line">
            <a:avLst/>
          </a:prstGeom>
          <a:ln w="12700">
            <a:solidFill>
              <a:srgbClr val="B0BE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71277C6D-9F26-AC23-B471-1804BAAD9F15}"/>
              </a:ext>
            </a:extLst>
          </p:cNvPr>
          <p:cNvSpPr txBox="1"/>
          <p:nvPr/>
        </p:nvSpPr>
        <p:spPr>
          <a:xfrm>
            <a:off x="5440679" y="2821257"/>
            <a:ext cx="502919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 i="0" dirty="0">
                <a:solidFill>
                  <a:srgbClr val="B0BEC5"/>
                </a:solidFill>
              </a:rPr>
              <a:t>3mm</a:t>
            </a:r>
          </a:p>
        </p:txBody>
      </p:sp>
      <p:cxnSp>
        <p:nvCxnSpPr>
          <p:cNvPr id="29" name="Connector 29">
            <a:extLst>
              <a:ext uri="{FF2B5EF4-FFF2-40B4-BE49-F238E27FC236}">
                <a16:creationId xmlns:a16="http://schemas.microsoft.com/office/drawing/2014/main" id="{F207D396-5E6B-33B7-21FF-CD6F520DB17F}"/>
              </a:ext>
            </a:extLst>
          </p:cNvPr>
          <p:cNvCxnSpPr/>
          <p:nvPr/>
        </p:nvCxnSpPr>
        <p:spPr>
          <a:xfrm>
            <a:off x="6446520" y="1252728"/>
            <a:ext cx="0" cy="1581912"/>
          </a:xfrm>
          <a:prstGeom prst="line">
            <a:avLst/>
          </a:prstGeom>
          <a:ln w="12700">
            <a:solidFill>
              <a:srgbClr val="B0BE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D966512A-1949-A571-C205-A2E28103C5A2}"/>
              </a:ext>
            </a:extLst>
          </p:cNvPr>
          <p:cNvSpPr txBox="1"/>
          <p:nvPr/>
        </p:nvSpPr>
        <p:spPr>
          <a:xfrm>
            <a:off x="6263640" y="2821257"/>
            <a:ext cx="502916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 i="0" dirty="0">
                <a:solidFill>
                  <a:srgbClr val="B0BEC5"/>
                </a:solidFill>
              </a:rPr>
              <a:t>6mm</a:t>
            </a:r>
          </a:p>
        </p:txBody>
      </p:sp>
      <p:cxnSp>
        <p:nvCxnSpPr>
          <p:cNvPr id="31" name="Connector 31">
            <a:extLst>
              <a:ext uri="{FF2B5EF4-FFF2-40B4-BE49-F238E27FC236}">
                <a16:creationId xmlns:a16="http://schemas.microsoft.com/office/drawing/2014/main" id="{74F68B49-B410-8C10-35B0-4868D5FE503E}"/>
              </a:ext>
            </a:extLst>
          </p:cNvPr>
          <p:cNvCxnSpPr/>
          <p:nvPr/>
        </p:nvCxnSpPr>
        <p:spPr>
          <a:xfrm>
            <a:off x="7269479" y="1234440"/>
            <a:ext cx="0" cy="2011680"/>
          </a:xfrm>
          <a:prstGeom prst="line">
            <a:avLst/>
          </a:prstGeom>
          <a:ln w="25400">
            <a:solidFill>
              <a:srgbClr val="2E7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149C3D84-01B4-A8CB-7A31-6A40FC8F8E65}"/>
              </a:ext>
            </a:extLst>
          </p:cNvPr>
          <p:cNvSpPr txBox="1"/>
          <p:nvPr/>
        </p:nvSpPr>
        <p:spPr>
          <a:xfrm>
            <a:off x="6949440" y="3138285"/>
            <a:ext cx="640080" cy="5539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 dirty="0">
                <a:solidFill>
                  <a:srgbClr val="2E7D32"/>
                </a:solidFill>
              </a:rPr>
              <a:t>9mm
DATA READ</a:t>
            </a:r>
          </a:p>
        </p:txBody>
      </p:sp>
      <p:cxnSp>
        <p:nvCxnSpPr>
          <p:cNvPr id="33" name="Connector 33">
            <a:extLst>
              <a:ext uri="{FF2B5EF4-FFF2-40B4-BE49-F238E27FC236}">
                <a16:creationId xmlns:a16="http://schemas.microsoft.com/office/drawing/2014/main" id="{7D4A2694-A008-2E85-5ECC-A06134EC716E}"/>
              </a:ext>
            </a:extLst>
          </p:cNvPr>
          <p:cNvCxnSpPr/>
          <p:nvPr/>
        </p:nvCxnSpPr>
        <p:spPr>
          <a:xfrm>
            <a:off x="8092440" y="1234440"/>
            <a:ext cx="0" cy="2011680"/>
          </a:xfrm>
          <a:prstGeom prst="line">
            <a:avLst/>
          </a:prstGeom>
          <a:ln w="25400">
            <a:solidFill>
              <a:srgbClr val="E651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4A301077-F9AE-F31E-9B32-976195554B35}"/>
              </a:ext>
            </a:extLst>
          </p:cNvPr>
          <p:cNvSpPr txBox="1"/>
          <p:nvPr/>
        </p:nvSpPr>
        <p:spPr>
          <a:xfrm>
            <a:off x="7772400" y="3138285"/>
            <a:ext cx="640080" cy="5539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 dirty="0">
                <a:solidFill>
                  <a:srgbClr val="E65100"/>
                </a:solidFill>
              </a:rPr>
              <a:t>12mm
NC SHORT</a:t>
            </a:r>
          </a:p>
        </p:txBody>
      </p:sp>
      <p:cxnSp>
        <p:nvCxnSpPr>
          <p:cNvPr id="35" name="Connector 35">
            <a:extLst>
              <a:ext uri="{FF2B5EF4-FFF2-40B4-BE49-F238E27FC236}">
                <a16:creationId xmlns:a16="http://schemas.microsoft.com/office/drawing/2014/main" id="{0977D8B6-DF00-40A7-23F1-F08AEB71C733}"/>
              </a:ext>
            </a:extLst>
          </p:cNvPr>
          <p:cNvCxnSpPr/>
          <p:nvPr/>
        </p:nvCxnSpPr>
        <p:spPr>
          <a:xfrm>
            <a:off x="4800600" y="3611880"/>
            <a:ext cx="2468879" cy="0"/>
          </a:xfrm>
          <a:prstGeom prst="line">
            <a:avLst/>
          </a:prstGeom>
          <a:ln w="12700">
            <a:solidFill>
              <a:srgbClr val="B0BE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E5E43B9D-5667-0790-1ACF-6877F0DB47E5}"/>
              </a:ext>
            </a:extLst>
          </p:cNvPr>
          <p:cNvSpPr txBox="1"/>
          <p:nvPr/>
        </p:nvSpPr>
        <p:spPr>
          <a:xfrm>
            <a:off x="5440680" y="3589353"/>
            <a:ext cx="1051560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 i="0" dirty="0">
                <a:solidFill>
                  <a:srgbClr val="78909C"/>
                </a:solidFill>
              </a:rPr>
              <a:t>9mm (3x3mm)</a:t>
            </a:r>
          </a:p>
        </p:txBody>
      </p:sp>
      <p:cxnSp>
        <p:nvCxnSpPr>
          <p:cNvPr id="37" name="Connector 37">
            <a:extLst>
              <a:ext uri="{FF2B5EF4-FFF2-40B4-BE49-F238E27FC236}">
                <a16:creationId xmlns:a16="http://schemas.microsoft.com/office/drawing/2014/main" id="{885FD34F-4DB9-C752-A1BB-9444B0A3AB77}"/>
              </a:ext>
            </a:extLst>
          </p:cNvPr>
          <p:cNvCxnSpPr/>
          <p:nvPr/>
        </p:nvCxnSpPr>
        <p:spPr>
          <a:xfrm>
            <a:off x="4800600" y="3822191"/>
            <a:ext cx="3291840" cy="0"/>
          </a:xfrm>
          <a:prstGeom prst="line">
            <a:avLst/>
          </a:prstGeom>
          <a:ln w="12700">
            <a:solidFill>
              <a:srgbClr val="B0BE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47CAA417-DC42-B799-74EF-C774629B115C}"/>
              </a:ext>
            </a:extLst>
          </p:cNvPr>
          <p:cNvSpPr txBox="1"/>
          <p:nvPr/>
        </p:nvSpPr>
        <p:spPr>
          <a:xfrm>
            <a:off x="5943599" y="3799665"/>
            <a:ext cx="1325879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 i="0" dirty="0">
                <a:solidFill>
                  <a:srgbClr val="78909C"/>
                </a:solidFill>
              </a:rPr>
              <a:t>12mm (4x3mm)</a:t>
            </a:r>
          </a:p>
        </p:txBody>
      </p:sp>
      <p:cxnSp>
        <p:nvCxnSpPr>
          <p:cNvPr id="39" name="Connector 39">
            <a:extLst>
              <a:ext uri="{FF2B5EF4-FFF2-40B4-BE49-F238E27FC236}">
                <a16:creationId xmlns:a16="http://schemas.microsoft.com/office/drawing/2014/main" id="{690A7CEA-79A8-47DF-0118-E1552D1EFC27}"/>
              </a:ext>
            </a:extLst>
          </p:cNvPr>
          <p:cNvCxnSpPr/>
          <p:nvPr/>
        </p:nvCxnSpPr>
        <p:spPr>
          <a:xfrm>
            <a:off x="8092440" y="1344168"/>
            <a:ext cx="0" cy="822960"/>
          </a:xfrm>
          <a:prstGeom prst="line">
            <a:avLst/>
          </a:prstGeom>
          <a:ln w="50800">
            <a:solidFill>
              <a:srgbClr val="B7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059B9ECA-7E2C-8375-5F03-4602252D83E3}"/>
              </a:ext>
            </a:extLst>
          </p:cNvPr>
          <p:cNvSpPr txBox="1"/>
          <p:nvPr/>
        </p:nvSpPr>
        <p:spPr>
          <a:xfrm>
            <a:off x="8138160" y="1632537"/>
            <a:ext cx="548640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>
                <a:solidFill>
                  <a:srgbClr val="B71C1C"/>
                </a:solidFill>
              </a:rPr>
              <a:t>SHORT</a:t>
            </a:r>
          </a:p>
        </p:txBody>
      </p:sp>
      <p:sp>
        <p:nvSpPr>
          <p:cNvPr id="41" name="Rectangle 41">
            <a:extLst>
              <a:ext uri="{FF2B5EF4-FFF2-40B4-BE49-F238E27FC236}">
                <a16:creationId xmlns:a16="http://schemas.microsoft.com/office/drawing/2014/main" id="{79DABC2D-5FF5-F275-4A7C-AEA200DD5384}"/>
              </a:ext>
            </a:extLst>
          </p:cNvPr>
          <p:cNvSpPr/>
          <p:nvPr/>
        </p:nvSpPr>
        <p:spPr>
          <a:xfrm>
            <a:off x="8138160" y="1024128"/>
            <a:ext cx="1645920" cy="4572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1st DATA  t+50ps</a:t>
            </a:r>
          </a:p>
        </p:txBody>
      </p:sp>
      <p:cxnSp>
        <p:nvCxnSpPr>
          <p:cNvPr id="42" name="Connector 42">
            <a:extLst>
              <a:ext uri="{FF2B5EF4-FFF2-40B4-BE49-F238E27FC236}">
                <a16:creationId xmlns:a16="http://schemas.microsoft.com/office/drawing/2014/main" id="{A98F778A-908C-4409-894E-75BB372620EC}"/>
              </a:ext>
            </a:extLst>
          </p:cNvPr>
          <p:cNvCxnSpPr/>
          <p:nvPr/>
        </p:nvCxnSpPr>
        <p:spPr>
          <a:xfrm flipV="1">
            <a:off x="7269479" y="1252728"/>
            <a:ext cx="868681" cy="91440"/>
          </a:xfrm>
          <a:prstGeom prst="line">
            <a:avLst/>
          </a:prstGeom>
          <a:ln w="19050">
            <a:solidFill>
              <a:srgbClr val="1B5E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tangle 43">
            <a:extLst>
              <a:ext uri="{FF2B5EF4-FFF2-40B4-BE49-F238E27FC236}">
                <a16:creationId xmlns:a16="http://schemas.microsoft.com/office/drawing/2014/main" id="{99A370A4-71C8-54C5-B331-D81EEBFB7751}"/>
              </a:ext>
            </a:extLst>
          </p:cNvPr>
          <p:cNvSpPr/>
          <p:nvPr/>
        </p:nvSpPr>
        <p:spPr>
          <a:xfrm>
            <a:off x="8138160" y="1554480"/>
            <a:ext cx="1645920" cy="457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2nd DATA  t+150ps</a:t>
            </a:r>
          </a:p>
        </p:txBody>
      </p:sp>
      <p:cxnSp>
        <p:nvCxnSpPr>
          <p:cNvPr id="44" name="Connector 44">
            <a:extLst>
              <a:ext uri="{FF2B5EF4-FFF2-40B4-BE49-F238E27FC236}">
                <a16:creationId xmlns:a16="http://schemas.microsoft.com/office/drawing/2014/main" id="{17DED8CA-5036-1534-C544-ABA66F055A12}"/>
              </a:ext>
            </a:extLst>
          </p:cNvPr>
          <p:cNvCxnSpPr/>
          <p:nvPr/>
        </p:nvCxnSpPr>
        <p:spPr>
          <a:xfrm>
            <a:off x="7269479" y="1344168"/>
            <a:ext cx="868681" cy="438912"/>
          </a:xfrm>
          <a:prstGeom prst="line">
            <a:avLst/>
          </a:prstGeom>
          <a:ln w="19050">
            <a:solidFill>
              <a:srgbClr val="2E7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5">
            <a:extLst>
              <a:ext uri="{FF2B5EF4-FFF2-40B4-BE49-F238E27FC236}">
                <a16:creationId xmlns:a16="http://schemas.microsoft.com/office/drawing/2014/main" id="{2828DB52-0D06-8FED-EB00-2BBB3AF4C26D}"/>
              </a:ext>
            </a:extLst>
          </p:cNvPr>
          <p:cNvSpPr/>
          <p:nvPr/>
        </p:nvSpPr>
        <p:spPr>
          <a:xfrm>
            <a:off x="8138160" y="2084832"/>
            <a:ext cx="1645920" cy="457200"/>
          </a:xfrm>
          <a:prstGeom prst="rect">
            <a:avLst/>
          </a:prstGeom>
          <a:solidFill>
            <a:srgbClr val="388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3rd DATA  t+250ps</a:t>
            </a:r>
          </a:p>
        </p:txBody>
      </p:sp>
      <p:cxnSp>
        <p:nvCxnSpPr>
          <p:cNvPr id="46" name="Connector 46">
            <a:extLst>
              <a:ext uri="{FF2B5EF4-FFF2-40B4-BE49-F238E27FC236}">
                <a16:creationId xmlns:a16="http://schemas.microsoft.com/office/drawing/2014/main" id="{65646666-0416-8C67-D405-57F50EB08BE3}"/>
              </a:ext>
            </a:extLst>
          </p:cNvPr>
          <p:cNvCxnSpPr/>
          <p:nvPr/>
        </p:nvCxnSpPr>
        <p:spPr>
          <a:xfrm>
            <a:off x="7269479" y="1344168"/>
            <a:ext cx="868681" cy="969264"/>
          </a:xfrm>
          <a:prstGeom prst="line">
            <a:avLst/>
          </a:prstGeom>
          <a:ln w="19050">
            <a:solidFill>
              <a:srgbClr val="388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ectangle 47">
            <a:extLst>
              <a:ext uri="{FF2B5EF4-FFF2-40B4-BE49-F238E27FC236}">
                <a16:creationId xmlns:a16="http://schemas.microsoft.com/office/drawing/2014/main" id="{C5CFDE1E-0E96-337C-03E3-AA7AF846E6E1}"/>
              </a:ext>
            </a:extLst>
          </p:cNvPr>
          <p:cNvSpPr/>
          <p:nvPr/>
        </p:nvSpPr>
        <p:spPr>
          <a:xfrm>
            <a:off x="8138160" y="2697480"/>
            <a:ext cx="1645920" cy="4572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OUTPUT
16bit x3=48bit</a:t>
            </a:r>
          </a:p>
        </p:txBody>
      </p:sp>
      <p:sp>
        <p:nvSpPr>
          <p:cNvPr id="48" name="Rectangle 48">
            <a:extLst>
              <a:ext uri="{FF2B5EF4-FFF2-40B4-BE49-F238E27FC236}">
                <a16:creationId xmlns:a16="http://schemas.microsoft.com/office/drawing/2014/main" id="{79E0B405-EC3D-CB36-68A7-DFBA0149EE3D}"/>
              </a:ext>
            </a:extLst>
          </p:cNvPr>
          <p:cNvSpPr/>
          <p:nvPr/>
        </p:nvSpPr>
        <p:spPr>
          <a:xfrm>
            <a:off x="9921240" y="1024128"/>
            <a:ext cx="2103120" cy="4572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NC-1   t+100ps</a:t>
            </a:r>
          </a:p>
        </p:txBody>
      </p:sp>
      <p:cxnSp>
        <p:nvCxnSpPr>
          <p:cNvPr id="49" name="Connector 49">
            <a:extLst>
              <a:ext uri="{FF2B5EF4-FFF2-40B4-BE49-F238E27FC236}">
                <a16:creationId xmlns:a16="http://schemas.microsoft.com/office/drawing/2014/main" id="{B431C657-395C-312A-36E4-45BCC78DC66A}"/>
              </a:ext>
            </a:extLst>
          </p:cNvPr>
          <p:cNvCxnSpPr/>
          <p:nvPr/>
        </p:nvCxnSpPr>
        <p:spPr>
          <a:xfrm flipV="1">
            <a:off x="8092440" y="1252728"/>
            <a:ext cx="1828800" cy="91440"/>
          </a:xfrm>
          <a:prstGeom prst="line">
            <a:avLst/>
          </a:prstGeom>
          <a:ln w="15240">
            <a:solidFill>
              <a:srgbClr val="0083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50">
            <a:extLst>
              <a:ext uri="{FF2B5EF4-FFF2-40B4-BE49-F238E27FC236}">
                <a16:creationId xmlns:a16="http://schemas.microsoft.com/office/drawing/2014/main" id="{89D834D2-8654-85F7-CF39-C5EB731BAC96}"/>
              </a:ext>
            </a:extLst>
          </p:cNvPr>
          <p:cNvCxnSpPr/>
          <p:nvPr/>
        </p:nvCxnSpPr>
        <p:spPr>
          <a:xfrm flipV="1">
            <a:off x="8092440" y="1252728"/>
            <a:ext cx="3931919" cy="914400"/>
          </a:xfrm>
          <a:prstGeom prst="line">
            <a:avLst/>
          </a:prstGeom>
          <a:ln w="15240">
            <a:solidFill>
              <a:srgbClr val="BF36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ectangle 51">
            <a:extLst>
              <a:ext uri="{FF2B5EF4-FFF2-40B4-BE49-F238E27FC236}">
                <a16:creationId xmlns:a16="http://schemas.microsoft.com/office/drawing/2014/main" id="{3CAE65E4-98F5-E8F9-C813-7AA969997EED}"/>
              </a:ext>
            </a:extLst>
          </p:cNvPr>
          <p:cNvSpPr/>
          <p:nvPr/>
        </p:nvSpPr>
        <p:spPr>
          <a:xfrm>
            <a:off x="9921240" y="1554480"/>
            <a:ext cx="2103120" cy="4572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NC-2   t+200ps</a:t>
            </a:r>
          </a:p>
        </p:txBody>
      </p:sp>
      <p:cxnSp>
        <p:nvCxnSpPr>
          <p:cNvPr id="52" name="Connector 52">
            <a:extLst>
              <a:ext uri="{FF2B5EF4-FFF2-40B4-BE49-F238E27FC236}">
                <a16:creationId xmlns:a16="http://schemas.microsoft.com/office/drawing/2014/main" id="{9E53467A-82C3-F224-A6D0-73F6B3E38388}"/>
              </a:ext>
            </a:extLst>
          </p:cNvPr>
          <p:cNvCxnSpPr/>
          <p:nvPr/>
        </p:nvCxnSpPr>
        <p:spPr>
          <a:xfrm>
            <a:off x="8092440" y="1344168"/>
            <a:ext cx="1828800" cy="438912"/>
          </a:xfrm>
          <a:prstGeom prst="line">
            <a:avLst/>
          </a:prstGeom>
          <a:ln w="15240">
            <a:solidFill>
              <a:srgbClr val="0083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3">
            <a:extLst>
              <a:ext uri="{FF2B5EF4-FFF2-40B4-BE49-F238E27FC236}">
                <a16:creationId xmlns:a16="http://schemas.microsoft.com/office/drawing/2014/main" id="{DAA70B8B-A7AD-ED3A-6722-196CD9932B17}"/>
              </a:ext>
            </a:extLst>
          </p:cNvPr>
          <p:cNvCxnSpPr/>
          <p:nvPr/>
        </p:nvCxnSpPr>
        <p:spPr>
          <a:xfrm flipV="1">
            <a:off x="8092440" y="1783080"/>
            <a:ext cx="3931919" cy="384048"/>
          </a:xfrm>
          <a:prstGeom prst="line">
            <a:avLst/>
          </a:prstGeom>
          <a:ln w="15240">
            <a:solidFill>
              <a:srgbClr val="BF36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ectangle 54">
            <a:extLst>
              <a:ext uri="{FF2B5EF4-FFF2-40B4-BE49-F238E27FC236}">
                <a16:creationId xmlns:a16="http://schemas.microsoft.com/office/drawing/2014/main" id="{FC7DD595-5A32-421B-4EC6-0EEB76349C85}"/>
              </a:ext>
            </a:extLst>
          </p:cNvPr>
          <p:cNvSpPr/>
          <p:nvPr/>
        </p:nvSpPr>
        <p:spPr>
          <a:xfrm>
            <a:off x="9921240" y="2084832"/>
            <a:ext cx="2103120" cy="4572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NC-3   t+300ps</a:t>
            </a:r>
          </a:p>
        </p:txBody>
      </p:sp>
      <p:cxnSp>
        <p:nvCxnSpPr>
          <p:cNvPr id="55" name="Connector 55">
            <a:extLst>
              <a:ext uri="{FF2B5EF4-FFF2-40B4-BE49-F238E27FC236}">
                <a16:creationId xmlns:a16="http://schemas.microsoft.com/office/drawing/2014/main" id="{DFFC0410-162E-DF29-F99A-1812AD49FEB5}"/>
              </a:ext>
            </a:extLst>
          </p:cNvPr>
          <p:cNvCxnSpPr/>
          <p:nvPr/>
        </p:nvCxnSpPr>
        <p:spPr>
          <a:xfrm>
            <a:off x="8092440" y="1344168"/>
            <a:ext cx="1828800" cy="969264"/>
          </a:xfrm>
          <a:prstGeom prst="line">
            <a:avLst/>
          </a:prstGeom>
          <a:ln w="15240">
            <a:solidFill>
              <a:srgbClr val="0083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6">
            <a:extLst>
              <a:ext uri="{FF2B5EF4-FFF2-40B4-BE49-F238E27FC236}">
                <a16:creationId xmlns:a16="http://schemas.microsoft.com/office/drawing/2014/main" id="{3F0F469C-A7BB-FC13-6B20-46DAE264758C}"/>
              </a:ext>
            </a:extLst>
          </p:cNvPr>
          <p:cNvCxnSpPr/>
          <p:nvPr/>
        </p:nvCxnSpPr>
        <p:spPr>
          <a:xfrm>
            <a:off x="8092440" y="2167128"/>
            <a:ext cx="3931919" cy="146304"/>
          </a:xfrm>
          <a:prstGeom prst="line">
            <a:avLst/>
          </a:prstGeom>
          <a:ln w="15240">
            <a:solidFill>
              <a:srgbClr val="BF36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ectangle 57">
            <a:extLst>
              <a:ext uri="{FF2B5EF4-FFF2-40B4-BE49-F238E27FC236}">
                <a16:creationId xmlns:a16="http://schemas.microsoft.com/office/drawing/2014/main" id="{74738999-3944-D17B-F037-E13D15BFD3E0}"/>
              </a:ext>
            </a:extLst>
          </p:cNvPr>
          <p:cNvSpPr/>
          <p:nvPr/>
        </p:nvSpPr>
        <p:spPr>
          <a:xfrm>
            <a:off x="9921240" y="2697480"/>
            <a:ext cx="2103120" cy="457200"/>
          </a:xfrm>
          <a:prstGeom prst="rect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+W3+(-W3)=0
SIGNAL FLAT OK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779F7BF-A8D4-466E-19CE-4F186BF0312E}"/>
              </a:ext>
            </a:extLst>
          </p:cNvPr>
          <p:cNvSpPr txBox="1"/>
          <p:nvPr/>
        </p:nvSpPr>
        <p:spPr>
          <a:xfrm>
            <a:off x="146304" y="3815166"/>
            <a:ext cx="11887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 dirty="0">
                <a:solidFill>
                  <a:srgbClr val="1A237E"/>
                </a:solidFill>
              </a:rPr>
              <a:t>(7) TIMING DIAGRAM   Method-B   10GHz  |  1 cycle=100ps  |  3 cycles=300ps for 3 data</a:t>
            </a:r>
          </a:p>
        </p:txBody>
      </p:sp>
      <p:sp>
        <p:nvSpPr>
          <p:cNvPr id="59" name="Rectangle 59">
            <a:extLst>
              <a:ext uri="{FF2B5EF4-FFF2-40B4-BE49-F238E27FC236}">
                <a16:creationId xmlns:a16="http://schemas.microsoft.com/office/drawing/2014/main" id="{A6242DA9-06BB-A124-3757-B4CA591D28B1}"/>
              </a:ext>
            </a:extLst>
          </p:cNvPr>
          <p:cNvSpPr/>
          <p:nvPr/>
        </p:nvSpPr>
        <p:spPr>
          <a:xfrm>
            <a:off x="182880" y="4297680"/>
            <a:ext cx="3904487" cy="685800"/>
          </a:xfrm>
          <a:prstGeom prst="rect">
            <a:avLst/>
          </a:prstGeom>
          <a:solidFill>
            <a:srgbClr val="ECEFF1"/>
          </a:solidFill>
          <a:ln w="12700">
            <a:solidFill>
              <a:srgbClr val="B0BE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60" name="Rectangle 60">
            <a:extLst>
              <a:ext uri="{FF2B5EF4-FFF2-40B4-BE49-F238E27FC236}">
                <a16:creationId xmlns:a16="http://schemas.microsoft.com/office/drawing/2014/main" id="{0833C6C7-81CD-526D-EBA4-715E08D7FE72}"/>
              </a:ext>
            </a:extLst>
          </p:cNvPr>
          <p:cNvSpPr/>
          <p:nvPr/>
        </p:nvSpPr>
        <p:spPr>
          <a:xfrm>
            <a:off x="192024" y="4315968"/>
            <a:ext cx="1938528" cy="649224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1st DATA
50ps
(50/100GHz)</a:t>
            </a:r>
          </a:p>
        </p:txBody>
      </p:sp>
      <p:sp>
        <p:nvSpPr>
          <p:cNvPr id="61" name="Rectangle 61">
            <a:extLst>
              <a:ext uri="{FF2B5EF4-FFF2-40B4-BE49-F238E27FC236}">
                <a16:creationId xmlns:a16="http://schemas.microsoft.com/office/drawing/2014/main" id="{94D52DA2-7792-89BC-6424-FF90101A7934}"/>
              </a:ext>
            </a:extLst>
          </p:cNvPr>
          <p:cNvSpPr/>
          <p:nvPr/>
        </p:nvSpPr>
        <p:spPr>
          <a:xfrm>
            <a:off x="2148840" y="4315968"/>
            <a:ext cx="1929384" cy="649224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NC   50ps   (50/100GHz)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2F362B2-F5C6-E85E-E9CD-8121775A4955}"/>
              </a:ext>
            </a:extLst>
          </p:cNvPr>
          <p:cNvSpPr txBox="1"/>
          <p:nvPr/>
        </p:nvSpPr>
        <p:spPr>
          <a:xfrm>
            <a:off x="137160" y="4021240"/>
            <a:ext cx="3931920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 dirty="0">
                <a:solidFill>
                  <a:srgbClr val="37474F"/>
                </a:solidFill>
              </a:rPr>
              <a:t>Cycle 1  (0~100ps)</a:t>
            </a:r>
          </a:p>
        </p:txBody>
      </p:sp>
      <p:cxnSp>
        <p:nvCxnSpPr>
          <p:cNvPr id="63" name="Connector 63">
            <a:extLst>
              <a:ext uri="{FF2B5EF4-FFF2-40B4-BE49-F238E27FC236}">
                <a16:creationId xmlns:a16="http://schemas.microsoft.com/office/drawing/2014/main" id="{16A170F9-F3C0-6866-DE5A-2D580927A49A}"/>
              </a:ext>
            </a:extLst>
          </p:cNvPr>
          <p:cNvCxnSpPr>
            <a:cxnSpLocks/>
          </p:cNvCxnSpPr>
          <p:nvPr/>
        </p:nvCxnSpPr>
        <p:spPr>
          <a:xfrm>
            <a:off x="182880" y="4974245"/>
            <a:ext cx="0" cy="109728"/>
          </a:xfrm>
          <a:prstGeom prst="line">
            <a:avLst/>
          </a:prstGeom>
          <a:ln w="12700">
            <a:solidFill>
              <a:srgbClr val="B0BE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98B2F1A7-F52A-5980-E4C3-88607A8E8015}"/>
              </a:ext>
            </a:extLst>
          </p:cNvPr>
          <p:cNvSpPr txBox="1"/>
          <p:nvPr/>
        </p:nvSpPr>
        <p:spPr>
          <a:xfrm>
            <a:off x="18288" y="4957070"/>
            <a:ext cx="329184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 i="0" dirty="0">
                <a:solidFill>
                  <a:srgbClr val="90A4AE"/>
                </a:solidFill>
              </a:rPr>
              <a:t>0ps</a:t>
            </a:r>
          </a:p>
        </p:txBody>
      </p:sp>
      <p:cxnSp>
        <p:nvCxnSpPr>
          <p:cNvPr id="65" name="Connector 65">
            <a:extLst>
              <a:ext uri="{FF2B5EF4-FFF2-40B4-BE49-F238E27FC236}">
                <a16:creationId xmlns:a16="http://schemas.microsoft.com/office/drawing/2014/main" id="{4776924E-D0ED-66A4-952F-CBC10F147F09}"/>
              </a:ext>
            </a:extLst>
          </p:cNvPr>
          <p:cNvCxnSpPr>
            <a:cxnSpLocks/>
          </p:cNvCxnSpPr>
          <p:nvPr/>
        </p:nvCxnSpPr>
        <p:spPr>
          <a:xfrm>
            <a:off x="576072" y="4974245"/>
            <a:ext cx="0" cy="109728"/>
          </a:xfrm>
          <a:prstGeom prst="line">
            <a:avLst/>
          </a:prstGeom>
          <a:ln w="12700">
            <a:solidFill>
              <a:srgbClr val="B0BE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D1D3E867-3557-71E4-672E-C91CC03026D6}"/>
              </a:ext>
            </a:extLst>
          </p:cNvPr>
          <p:cNvSpPr txBox="1"/>
          <p:nvPr/>
        </p:nvSpPr>
        <p:spPr>
          <a:xfrm>
            <a:off x="411480" y="4957070"/>
            <a:ext cx="329184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 i="0">
                <a:solidFill>
                  <a:srgbClr val="90A4AE"/>
                </a:solidFill>
              </a:rPr>
              <a:t>10ps</a:t>
            </a:r>
          </a:p>
        </p:txBody>
      </p:sp>
      <p:cxnSp>
        <p:nvCxnSpPr>
          <p:cNvPr id="67" name="Connector 67">
            <a:extLst>
              <a:ext uri="{FF2B5EF4-FFF2-40B4-BE49-F238E27FC236}">
                <a16:creationId xmlns:a16="http://schemas.microsoft.com/office/drawing/2014/main" id="{109D3BFA-C4A5-0251-1AC0-B007BA3EB1FA}"/>
              </a:ext>
            </a:extLst>
          </p:cNvPr>
          <p:cNvCxnSpPr>
            <a:cxnSpLocks/>
          </p:cNvCxnSpPr>
          <p:nvPr/>
        </p:nvCxnSpPr>
        <p:spPr>
          <a:xfrm>
            <a:off x="969264" y="4974245"/>
            <a:ext cx="0" cy="109728"/>
          </a:xfrm>
          <a:prstGeom prst="line">
            <a:avLst/>
          </a:prstGeom>
          <a:ln w="12700">
            <a:solidFill>
              <a:srgbClr val="B0BE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E9A934EE-644C-AFE3-40B8-51C6E4C8B1A9}"/>
              </a:ext>
            </a:extLst>
          </p:cNvPr>
          <p:cNvSpPr txBox="1"/>
          <p:nvPr/>
        </p:nvSpPr>
        <p:spPr>
          <a:xfrm>
            <a:off x="804672" y="4957070"/>
            <a:ext cx="329184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 i="0">
                <a:solidFill>
                  <a:srgbClr val="90A4AE"/>
                </a:solidFill>
              </a:rPr>
              <a:t>20ps</a:t>
            </a:r>
          </a:p>
        </p:txBody>
      </p:sp>
      <p:cxnSp>
        <p:nvCxnSpPr>
          <p:cNvPr id="69" name="Connector 69">
            <a:extLst>
              <a:ext uri="{FF2B5EF4-FFF2-40B4-BE49-F238E27FC236}">
                <a16:creationId xmlns:a16="http://schemas.microsoft.com/office/drawing/2014/main" id="{41ECFE84-9E9F-E50C-F002-34E7955E3CDC}"/>
              </a:ext>
            </a:extLst>
          </p:cNvPr>
          <p:cNvCxnSpPr>
            <a:cxnSpLocks/>
          </p:cNvCxnSpPr>
          <p:nvPr/>
        </p:nvCxnSpPr>
        <p:spPr>
          <a:xfrm>
            <a:off x="1362455" y="4974245"/>
            <a:ext cx="0" cy="109728"/>
          </a:xfrm>
          <a:prstGeom prst="line">
            <a:avLst/>
          </a:prstGeom>
          <a:ln w="12700">
            <a:solidFill>
              <a:srgbClr val="B0BE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E928DF80-DECC-7DA7-4715-B8D3A490EDD8}"/>
              </a:ext>
            </a:extLst>
          </p:cNvPr>
          <p:cNvSpPr txBox="1"/>
          <p:nvPr/>
        </p:nvSpPr>
        <p:spPr>
          <a:xfrm>
            <a:off x="1197863" y="4957070"/>
            <a:ext cx="329184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 i="0">
                <a:solidFill>
                  <a:srgbClr val="90A4AE"/>
                </a:solidFill>
              </a:rPr>
              <a:t>30ps</a:t>
            </a:r>
          </a:p>
        </p:txBody>
      </p:sp>
      <p:cxnSp>
        <p:nvCxnSpPr>
          <p:cNvPr id="71" name="Connector 71">
            <a:extLst>
              <a:ext uri="{FF2B5EF4-FFF2-40B4-BE49-F238E27FC236}">
                <a16:creationId xmlns:a16="http://schemas.microsoft.com/office/drawing/2014/main" id="{B817D28D-2FAE-E248-392E-BF6E75DD90AB}"/>
              </a:ext>
            </a:extLst>
          </p:cNvPr>
          <p:cNvCxnSpPr>
            <a:cxnSpLocks/>
          </p:cNvCxnSpPr>
          <p:nvPr/>
        </p:nvCxnSpPr>
        <p:spPr>
          <a:xfrm>
            <a:off x="1755648" y="4974245"/>
            <a:ext cx="0" cy="109728"/>
          </a:xfrm>
          <a:prstGeom prst="line">
            <a:avLst/>
          </a:prstGeom>
          <a:ln w="12700">
            <a:solidFill>
              <a:srgbClr val="B0BE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FB890EA9-F7BA-341F-3680-B1BB4175863E}"/>
              </a:ext>
            </a:extLst>
          </p:cNvPr>
          <p:cNvSpPr txBox="1"/>
          <p:nvPr/>
        </p:nvSpPr>
        <p:spPr>
          <a:xfrm>
            <a:off x="1591056" y="4957070"/>
            <a:ext cx="329184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 i="0">
                <a:solidFill>
                  <a:srgbClr val="90A4AE"/>
                </a:solidFill>
              </a:rPr>
              <a:t>40ps</a:t>
            </a:r>
          </a:p>
        </p:txBody>
      </p:sp>
      <p:cxnSp>
        <p:nvCxnSpPr>
          <p:cNvPr id="73" name="Connector 73">
            <a:extLst>
              <a:ext uri="{FF2B5EF4-FFF2-40B4-BE49-F238E27FC236}">
                <a16:creationId xmlns:a16="http://schemas.microsoft.com/office/drawing/2014/main" id="{A3E93BC0-ECA9-C77D-D099-383E4137C1D9}"/>
              </a:ext>
            </a:extLst>
          </p:cNvPr>
          <p:cNvCxnSpPr>
            <a:cxnSpLocks/>
          </p:cNvCxnSpPr>
          <p:nvPr/>
        </p:nvCxnSpPr>
        <p:spPr>
          <a:xfrm>
            <a:off x="2148840" y="4974245"/>
            <a:ext cx="0" cy="109728"/>
          </a:xfrm>
          <a:prstGeom prst="line">
            <a:avLst/>
          </a:prstGeom>
          <a:ln w="12700">
            <a:solidFill>
              <a:srgbClr val="B0BE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4FBC9F38-AAAE-2244-F808-DD84832C44CE}"/>
              </a:ext>
            </a:extLst>
          </p:cNvPr>
          <p:cNvSpPr txBox="1"/>
          <p:nvPr/>
        </p:nvSpPr>
        <p:spPr>
          <a:xfrm>
            <a:off x="1984248" y="4957070"/>
            <a:ext cx="329184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 i="0">
                <a:solidFill>
                  <a:srgbClr val="90A4AE"/>
                </a:solidFill>
              </a:rPr>
              <a:t>50ps</a:t>
            </a:r>
          </a:p>
        </p:txBody>
      </p:sp>
      <p:cxnSp>
        <p:nvCxnSpPr>
          <p:cNvPr id="75" name="Connector 75">
            <a:extLst>
              <a:ext uri="{FF2B5EF4-FFF2-40B4-BE49-F238E27FC236}">
                <a16:creationId xmlns:a16="http://schemas.microsoft.com/office/drawing/2014/main" id="{204582E6-72D4-4EAB-08DF-CB2F9A1B40A6}"/>
              </a:ext>
            </a:extLst>
          </p:cNvPr>
          <p:cNvCxnSpPr>
            <a:cxnSpLocks/>
          </p:cNvCxnSpPr>
          <p:nvPr/>
        </p:nvCxnSpPr>
        <p:spPr>
          <a:xfrm>
            <a:off x="2542032" y="4974245"/>
            <a:ext cx="0" cy="109728"/>
          </a:xfrm>
          <a:prstGeom prst="line">
            <a:avLst/>
          </a:prstGeom>
          <a:ln w="12700">
            <a:solidFill>
              <a:srgbClr val="B0BE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095D6590-1AD8-5278-7EC9-EC7B3D0BB333}"/>
              </a:ext>
            </a:extLst>
          </p:cNvPr>
          <p:cNvSpPr txBox="1"/>
          <p:nvPr/>
        </p:nvSpPr>
        <p:spPr>
          <a:xfrm>
            <a:off x="2377439" y="4957070"/>
            <a:ext cx="329184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 i="0">
                <a:solidFill>
                  <a:srgbClr val="90A4AE"/>
                </a:solidFill>
              </a:rPr>
              <a:t>60ps</a:t>
            </a:r>
          </a:p>
        </p:txBody>
      </p:sp>
      <p:cxnSp>
        <p:nvCxnSpPr>
          <p:cNvPr id="77" name="Connector 77">
            <a:extLst>
              <a:ext uri="{FF2B5EF4-FFF2-40B4-BE49-F238E27FC236}">
                <a16:creationId xmlns:a16="http://schemas.microsoft.com/office/drawing/2014/main" id="{5CFAC830-9EE2-E0AA-3070-5EDE5171211D}"/>
              </a:ext>
            </a:extLst>
          </p:cNvPr>
          <p:cNvCxnSpPr>
            <a:cxnSpLocks/>
          </p:cNvCxnSpPr>
          <p:nvPr/>
        </p:nvCxnSpPr>
        <p:spPr>
          <a:xfrm>
            <a:off x="2935224" y="4974245"/>
            <a:ext cx="0" cy="109728"/>
          </a:xfrm>
          <a:prstGeom prst="line">
            <a:avLst/>
          </a:prstGeom>
          <a:ln w="12700">
            <a:solidFill>
              <a:srgbClr val="B0BE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120CC7F1-DC0F-C832-3B8A-2363830E2A3A}"/>
              </a:ext>
            </a:extLst>
          </p:cNvPr>
          <p:cNvSpPr txBox="1"/>
          <p:nvPr/>
        </p:nvSpPr>
        <p:spPr>
          <a:xfrm>
            <a:off x="2770632" y="4957070"/>
            <a:ext cx="329184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 i="0">
                <a:solidFill>
                  <a:srgbClr val="90A4AE"/>
                </a:solidFill>
              </a:rPr>
              <a:t>70ps</a:t>
            </a:r>
          </a:p>
        </p:txBody>
      </p:sp>
      <p:cxnSp>
        <p:nvCxnSpPr>
          <p:cNvPr id="79" name="Connector 79">
            <a:extLst>
              <a:ext uri="{FF2B5EF4-FFF2-40B4-BE49-F238E27FC236}">
                <a16:creationId xmlns:a16="http://schemas.microsoft.com/office/drawing/2014/main" id="{9ACAD549-168F-8670-03D3-DA2A739943CC}"/>
              </a:ext>
            </a:extLst>
          </p:cNvPr>
          <p:cNvCxnSpPr>
            <a:cxnSpLocks/>
          </p:cNvCxnSpPr>
          <p:nvPr/>
        </p:nvCxnSpPr>
        <p:spPr>
          <a:xfrm>
            <a:off x="3328416" y="4974245"/>
            <a:ext cx="0" cy="109728"/>
          </a:xfrm>
          <a:prstGeom prst="line">
            <a:avLst/>
          </a:prstGeom>
          <a:ln w="12700">
            <a:solidFill>
              <a:srgbClr val="B0BE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F8FF4A64-4518-F176-8AA4-0793F299471E}"/>
              </a:ext>
            </a:extLst>
          </p:cNvPr>
          <p:cNvSpPr txBox="1"/>
          <p:nvPr/>
        </p:nvSpPr>
        <p:spPr>
          <a:xfrm>
            <a:off x="3163824" y="4957070"/>
            <a:ext cx="329184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 i="0">
                <a:solidFill>
                  <a:srgbClr val="90A4AE"/>
                </a:solidFill>
              </a:rPr>
              <a:t>80ps</a:t>
            </a:r>
          </a:p>
        </p:txBody>
      </p:sp>
      <p:cxnSp>
        <p:nvCxnSpPr>
          <p:cNvPr id="81" name="Connector 81">
            <a:extLst>
              <a:ext uri="{FF2B5EF4-FFF2-40B4-BE49-F238E27FC236}">
                <a16:creationId xmlns:a16="http://schemas.microsoft.com/office/drawing/2014/main" id="{F69B84C2-A24B-AC30-75F0-5CD35763F3E2}"/>
              </a:ext>
            </a:extLst>
          </p:cNvPr>
          <p:cNvCxnSpPr>
            <a:cxnSpLocks/>
          </p:cNvCxnSpPr>
          <p:nvPr/>
        </p:nvCxnSpPr>
        <p:spPr>
          <a:xfrm>
            <a:off x="3721607" y="4974245"/>
            <a:ext cx="0" cy="109728"/>
          </a:xfrm>
          <a:prstGeom prst="line">
            <a:avLst/>
          </a:prstGeom>
          <a:ln w="12700">
            <a:solidFill>
              <a:srgbClr val="B0BE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TextBox 81">
            <a:extLst>
              <a:ext uri="{FF2B5EF4-FFF2-40B4-BE49-F238E27FC236}">
                <a16:creationId xmlns:a16="http://schemas.microsoft.com/office/drawing/2014/main" id="{B09F86B3-62AA-0F12-7E3D-C5F335F4579F}"/>
              </a:ext>
            </a:extLst>
          </p:cNvPr>
          <p:cNvSpPr txBox="1"/>
          <p:nvPr/>
        </p:nvSpPr>
        <p:spPr>
          <a:xfrm>
            <a:off x="3557015" y="4957070"/>
            <a:ext cx="329184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 i="0">
                <a:solidFill>
                  <a:srgbClr val="90A4AE"/>
                </a:solidFill>
              </a:rPr>
              <a:t>90ps</a:t>
            </a:r>
          </a:p>
        </p:txBody>
      </p:sp>
      <p:cxnSp>
        <p:nvCxnSpPr>
          <p:cNvPr id="83" name="Connector 83">
            <a:extLst>
              <a:ext uri="{FF2B5EF4-FFF2-40B4-BE49-F238E27FC236}">
                <a16:creationId xmlns:a16="http://schemas.microsoft.com/office/drawing/2014/main" id="{E3AC30D3-3CBA-AB98-AC14-79FA2AFF5F02}"/>
              </a:ext>
            </a:extLst>
          </p:cNvPr>
          <p:cNvCxnSpPr>
            <a:cxnSpLocks/>
          </p:cNvCxnSpPr>
          <p:nvPr/>
        </p:nvCxnSpPr>
        <p:spPr>
          <a:xfrm>
            <a:off x="4114800" y="4965192"/>
            <a:ext cx="0" cy="109728"/>
          </a:xfrm>
          <a:prstGeom prst="line">
            <a:avLst/>
          </a:prstGeom>
          <a:ln w="12700">
            <a:solidFill>
              <a:srgbClr val="B0BE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5">
            <a:extLst>
              <a:ext uri="{FF2B5EF4-FFF2-40B4-BE49-F238E27FC236}">
                <a16:creationId xmlns:a16="http://schemas.microsoft.com/office/drawing/2014/main" id="{65A49264-1832-057C-7DA8-5F114514975F}"/>
              </a:ext>
            </a:extLst>
          </p:cNvPr>
          <p:cNvCxnSpPr/>
          <p:nvPr/>
        </p:nvCxnSpPr>
        <p:spPr>
          <a:xfrm>
            <a:off x="2148840" y="4297680"/>
            <a:ext cx="0" cy="667512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Rectangle 86">
            <a:extLst>
              <a:ext uri="{FF2B5EF4-FFF2-40B4-BE49-F238E27FC236}">
                <a16:creationId xmlns:a16="http://schemas.microsoft.com/office/drawing/2014/main" id="{190E5223-4F1F-3350-117E-FCD59EC3FD4D}"/>
              </a:ext>
            </a:extLst>
          </p:cNvPr>
          <p:cNvSpPr/>
          <p:nvPr/>
        </p:nvSpPr>
        <p:spPr>
          <a:xfrm>
            <a:off x="4114800" y="4297680"/>
            <a:ext cx="3904487" cy="685800"/>
          </a:xfrm>
          <a:prstGeom prst="rect">
            <a:avLst/>
          </a:prstGeom>
          <a:solidFill>
            <a:srgbClr val="ECEFF1"/>
          </a:solidFill>
          <a:ln w="12700">
            <a:solidFill>
              <a:srgbClr val="B0BE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86" name="Rectangle 87">
            <a:extLst>
              <a:ext uri="{FF2B5EF4-FFF2-40B4-BE49-F238E27FC236}">
                <a16:creationId xmlns:a16="http://schemas.microsoft.com/office/drawing/2014/main" id="{E4FB7545-D732-E751-2EF3-EDFF56D237CC}"/>
              </a:ext>
            </a:extLst>
          </p:cNvPr>
          <p:cNvSpPr/>
          <p:nvPr/>
        </p:nvSpPr>
        <p:spPr>
          <a:xfrm>
            <a:off x="4123944" y="4315968"/>
            <a:ext cx="1938528" cy="64922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2st DATA
50ps
(50/100GHz)</a:t>
            </a:r>
          </a:p>
        </p:txBody>
      </p:sp>
      <p:sp>
        <p:nvSpPr>
          <p:cNvPr id="87" name="Rectangle 88">
            <a:extLst>
              <a:ext uri="{FF2B5EF4-FFF2-40B4-BE49-F238E27FC236}">
                <a16:creationId xmlns:a16="http://schemas.microsoft.com/office/drawing/2014/main" id="{F0FABA0A-55C0-AC50-74FC-2A6DFCE9F114}"/>
              </a:ext>
            </a:extLst>
          </p:cNvPr>
          <p:cNvSpPr/>
          <p:nvPr/>
        </p:nvSpPr>
        <p:spPr>
          <a:xfrm>
            <a:off x="6080760" y="4315968"/>
            <a:ext cx="1929384" cy="649224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NC   50ps   (50/100GHz)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6D459E22-65E7-9AEB-1B12-AB13430DA4D0}"/>
              </a:ext>
            </a:extLst>
          </p:cNvPr>
          <p:cNvSpPr txBox="1"/>
          <p:nvPr/>
        </p:nvSpPr>
        <p:spPr>
          <a:xfrm>
            <a:off x="4114800" y="4055698"/>
            <a:ext cx="3931920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37474F"/>
                </a:solidFill>
              </a:rPr>
              <a:t>Cycle 2  (100~200ps)</a:t>
            </a:r>
          </a:p>
        </p:txBody>
      </p:sp>
      <p:cxnSp>
        <p:nvCxnSpPr>
          <p:cNvPr id="89" name="Connector 90">
            <a:extLst>
              <a:ext uri="{FF2B5EF4-FFF2-40B4-BE49-F238E27FC236}">
                <a16:creationId xmlns:a16="http://schemas.microsoft.com/office/drawing/2014/main" id="{03478052-2C83-4022-E6C3-772774DD3B31}"/>
              </a:ext>
            </a:extLst>
          </p:cNvPr>
          <p:cNvCxnSpPr/>
          <p:nvPr/>
        </p:nvCxnSpPr>
        <p:spPr>
          <a:xfrm>
            <a:off x="4114800" y="4059936"/>
            <a:ext cx="0" cy="1014984"/>
          </a:xfrm>
          <a:prstGeom prst="line">
            <a:avLst/>
          </a:prstGeom>
          <a:ln w="19050">
            <a:solidFill>
              <a:srgbClr val="1A23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91">
            <a:extLst>
              <a:ext uri="{FF2B5EF4-FFF2-40B4-BE49-F238E27FC236}">
                <a16:creationId xmlns:a16="http://schemas.microsoft.com/office/drawing/2014/main" id="{30FF5438-5670-1D5F-3E60-CAD2FF06D39A}"/>
              </a:ext>
            </a:extLst>
          </p:cNvPr>
          <p:cNvCxnSpPr>
            <a:cxnSpLocks/>
          </p:cNvCxnSpPr>
          <p:nvPr/>
        </p:nvCxnSpPr>
        <p:spPr>
          <a:xfrm>
            <a:off x="4114800" y="4965192"/>
            <a:ext cx="0" cy="109728"/>
          </a:xfrm>
          <a:prstGeom prst="line">
            <a:avLst/>
          </a:prstGeom>
          <a:ln w="12700">
            <a:solidFill>
              <a:srgbClr val="B0BE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TextBox 90">
            <a:extLst>
              <a:ext uri="{FF2B5EF4-FFF2-40B4-BE49-F238E27FC236}">
                <a16:creationId xmlns:a16="http://schemas.microsoft.com/office/drawing/2014/main" id="{C145F81C-10A3-40BD-6107-A1804E26D939}"/>
              </a:ext>
            </a:extLst>
          </p:cNvPr>
          <p:cNvSpPr txBox="1"/>
          <p:nvPr/>
        </p:nvSpPr>
        <p:spPr>
          <a:xfrm>
            <a:off x="3927348" y="4983480"/>
            <a:ext cx="393192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 i="0" dirty="0">
                <a:solidFill>
                  <a:srgbClr val="90A4AE"/>
                </a:solidFill>
              </a:rPr>
              <a:t>100ps</a:t>
            </a:r>
          </a:p>
        </p:txBody>
      </p:sp>
      <p:cxnSp>
        <p:nvCxnSpPr>
          <p:cNvPr id="92" name="Connector 93">
            <a:extLst>
              <a:ext uri="{FF2B5EF4-FFF2-40B4-BE49-F238E27FC236}">
                <a16:creationId xmlns:a16="http://schemas.microsoft.com/office/drawing/2014/main" id="{3E8CE5E6-DBFD-23EF-29F5-5B70E338D908}"/>
              </a:ext>
            </a:extLst>
          </p:cNvPr>
          <p:cNvCxnSpPr>
            <a:cxnSpLocks/>
          </p:cNvCxnSpPr>
          <p:nvPr/>
        </p:nvCxnSpPr>
        <p:spPr>
          <a:xfrm>
            <a:off x="4507992" y="4965192"/>
            <a:ext cx="0" cy="109728"/>
          </a:xfrm>
          <a:prstGeom prst="line">
            <a:avLst/>
          </a:prstGeom>
          <a:ln w="12700">
            <a:solidFill>
              <a:srgbClr val="B0BE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TextBox 92">
            <a:extLst>
              <a:ext uri="{FF2B5EF4-FFF2-40B4-BE49-F238E27FC236}">
                <a16:creationId xmlns:a16="http://schemas.microsoft.com/office/drawing/2014/main" id="{3ADFE134-3FA1-4858-D9F2-D11ACEA8B2DA}"/>
              </a:ext>
            </a:extLst>
          </p:cNvPr>
          <p:cNvSpPr txBox="1"/>
          <p:nvPr/>
        </p:nvSpPr>
        <p:spPr>
          <a:xfrm>
            <a:off x="4343400" y="4948017"/>
            <a:ext cx="393192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 i="0">
                <a:solidFill>
                  <a:srgbClr val="90A4AE"/>
                </a:solidFill>
              </a:rPr>
              <a:t>110ps</a:t>
            </a:r>
          </a:p>
        </p:txBody>
      </p:sp>
      <p:cxnSp>
        <p:nvCxnSpPr>
          <p:cNvPr id="94" name="Connector 95">
            <a:extLst>
              <a:ext uri="{FF2B5EF4-FFF2-40B4-BE49-F238E27FC236}">
                <a16:creationId xmlns:a16="http://schemas.microsoft.com/office/drawing/2014/main" id="{0A553AA3-F777-2CBD-168D-1709400BBBEE}"/>
              </a:ext>
            </a:extLst>
          </p:cNvPr>
          <p:cNvCxnSpPr>
            <a:cxnSpLocks/>
          </p:cNvCxnSpPr>
          <p:nvPr/>
        </p:nvCxnSpPr>
        <p:spPr>
          <a:xfrm>
            <a:off x="4901184" y="4965192"/>
            <a:ext cx="0" cy="109728"/>
          </a:xfrm>
          <a:prstGeom prst="line">
            <a:avLst/>
          </a:prstGeom>
          <a:ln w="12700">
            <a:solidFill>
              <a:srgbClr val="B0BE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TextBox 94">
            <a:extLst>
              <a:ext uri="{FF2B5EF4-FFF2-40B4-BE49-F238E27FC236}">
                <a16:creationId xmlns:a16="http://schemas.microsoft.com/office/drawing/2014/main" id="{5328EB92-8129-AD6A-2135-AADBE6914B97}"/>
              </a:ext>
            </a:extLst>
          </p:cNvPr>
          <p:cNvSpPr txBox="1"/>
          <p:nvPr/>
        </p:nvSpPr>
        <p:spPr>
          <a:xfrm>
            <a:off x="4736592" y="4948017"/>
            <a:ext cx="393192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 i="0" dirty="0">
                <a:solidFill>
                  <a:srgbClr val="90A4AE"/>
                </a:solidFill>
              </a:rPr>
              <a:t>120ps</a:t>
            </a:r>
          </a:p>
        </p:txBody>
      </p:sp>
      <p:cxnSp>
        <p:nvCxnSpPr>
          <p:cNvPr id="96" name="Connector 97">
            <a:extLst>
              <a:ext uri="{FF2B5EF4-FFF2-40B4-BE49-F238E27FC236}">
                <a16:creationId xmlns:a16="http://schemas.microsoft.com/office/drawing/2014/main" id="{A4C744FA-86DC-6954-04E4-7954AC770EA7}"/>
              </a:ext>
            </a:extLst>
          </p:cNvPr>
          <p:cNvCxnSpPr>
            <a:cxnSpLocks/>
          </p:cNvCxnSpPr>
          <p:nvPr/>
        </p:nvCxnSpPr>
        <p:spPr>
          <a:xfrm>
            <a:off x="5294376" y="4965192"/>
            <a:ext cx="0" cy="109728"/>
          </a:xfrm>
          <a:prstGeom prst="line">
            <a:avLst/>
          </a:prstGeom>
          <a:ln w="12700">
            <a:solidFill>
              <a:srgbClr val="B0BE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C56067D2-5FC1-244C-F5E3-A10E38371707}"/>
              </a:ext>
            </a:extLst>
          </p:cNvPr>
          <p:cNvSpPr txBox="1"/>
          <p:nvPr/>
        </p:nvSpPr>
        <p:spPr>
          <a:xfrm>
            <a:off x="5129784" y="4948017"/>
            <a:ext cx="393192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 i="0">
                <a:solidFill>
                  <a:srgbClr val="90A4AE"/>
                </a:solidFill>
              </a:rPr>
              <a:t>130ps</a:t>
            </a:r>
          </a:p>
        </p:txBody>
      </p:sp>
      <p:cxnSp>
        <p:nvCxnSpPr>
          <p:cNvPr id="98" name="Connector 99">
            <a:extLst>
              <a:ext uri="{FF2B5EF4-FFF2-40B4-BE49-F238E27FC236}">
                <a16:creationId xmlns:a16="http://schemas.microsoft.com/office/drawing/2014/main" id="{05A3E642-DC2B-3C5E-9F4F-9A03FB9BDBB4}"/>
              </a:ext>
            </a:extLst>
          </p:cNvPr>
          <p:cNvCxnSpPr>
            <a:cxnSpLocks/>
          </p:cNvCxnSpPr>
          <p:nvPr/>
        </p:nvCxnSpPr>
        <p:spPr>
          <a:xfrm>
            <a:off x="5687568" y="4965192"/>
            <a:ext cx="0" cy="109728"/>
          </a:xfrm>
          <a:prstGeom prst="line">
            <a:avLst/>
          </a:prstGeom>
          <a:ln w="12700">
            <a:solidFill>
              <a:srgbClr val="B0BE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TextBox 98">
            <a:extLst>
              <a:ext uri="{FF2B5EF4-FFF2-40B4-BE49-F238E27FC236}">
                <a16:creationId xmlns:a16="http://schemas.microsoft.com/office/drawing/2014/main" id="{464E2C6C-87A7-DA3F-7658-C318D15DBDE8}"/>
              </a:ext>
            </a:extLst>
          </p:cNvPr>
          <p:cNvSpPr txBox="1"/>
          <p:nvPr/>
        </p:nvSpPr>
        <p:spPr>
          <a:xfrm>
            <a:off x="5522976" y="4948017"/>
            <a:ext cx="420624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 i="0" dirty="0">
                <a:solidFill>
                  <a:srgbClr val="90A4AE"/>
                </a:solidFill>
              </a:rPr>
              <a:t>140ps</a:t>
            </a:r>
          </a:p>
        </p:txBody>
      </p:sp>
      <p:cxnSp>
        <p:nvCxnSpPr>
          <p:cNvPr id="100" name="Connector 101">
            <a:extLst>
              <a:ext uri="{FF2B5EF4-FFF2-40B4-BE49-F238E27FC236}">
                <a16:creationId xmlns:a16="http://schemas.microsoft.com/office/drawing/2014/main" id="{1ED915A6-2C8D-E73A-813F-130DE121952E}"/>
              </a:ext>
            </a:extLst>
          </p:cNvPr>
          <p:cNvCxnSpPr>
            <a:cxnSpLocks/>
          </p:cNvCxnSpPr>
          <p:nvPr/>
        </p:nvCxnSpPr>
        <p:spPr>
          <a:xfrm>
            <a:off x="6080760" y="4965192"/>
            <a:ext cx="0" cy="109728"/>
          </a:xfrm>
          <a:prstGeom prst="line">
            <a:avLst/>
          </a:prstGeom>
          <a:ln w="12700">
            <a:solidFill>
              <a:srgbClr val="B0BE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TextBox 100">
            <a:extLst>
              <a:ext uri="{FF2B5EF4-FFF2-40B4-BE49-F238E27FC236}">
                <a16:creationId xmlns:a16="http://schemas.microsoft.com/office/drawing/2014/main" id="{E59B2ECF-3EEA-21BA-D269-D6FB77C9B578}"/>
              </a:ext>
            </a:extLst>
          </p:cNvPr>
          <p:cNvSpPr txBox="1"/>
          <p:nvPr/>
        </p:nvSpPr>
        <p:spPr>
          <a:xfrm>
            <a:off x="5916168" y="4948017"/>
            <a:ext cx="393192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 i="0" dirty="0">
                <a:solidFill>
                  <a:srgbClr val="90A4AE"/>
                </a:solidFill>
              </a:rPr>
              <a:t>150ps</a:t>
            </a:r>
          </a:p>
        </p:txBody>
      </p:sp>
      <p:cxnSp>
        <p:nvCxnSpPr>
          <p:cNvPr id="102" name="Connector 103">
            <a:extLst>
              <a:ext uri="{FF2B5EF4-FFF2-40B4-BE49-F238E27FC236}">
                <a16:creationId xmlns:a16="http://schemas.microsoft.com/office/drawing/2014/main" id="{F907453F-3872-EA1E-E414-44D23CFEE0AA}"/>
              </a:ext>
            </a:extLst>
          </p:cNvPr>
          <p:cNvCxnSpPr>
            <a:cxnSpLocks/>
          </p:cNvCxnSpPr>
          <p:nvPr/>
        </p:nvCxnSpPr>
        <p:spPr>
          <a:xfrm>
            <a:off x="6473952" y="4965192"/>
            <a:ext cx="0" cy="109728"/>
          </a:xfrm>
          <a:prstGeom prst="line">
            <a:avLst/>
          </a:prstGeom>
          <a:ln w="12700">
            <a:solidFill>
              <a:srgbClr val="B0BE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4ED9031B-B662-1D2D-5CC9-E79E47328439}"/>
              </a:ext>
            </a:extLst>
          </p:cNvPr>
          <p:cNvSpPr txBox="1"/>
          <p:nvPr/>
        </p:nvSpPr>
        <p:spPr>
          <a:xfrm>
            <a:off x="6309360" y="4948017"/>
            <a:ext cx="393192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 i="0" dirty="0">
                <a:solidFill>
                  <a:srgbClr val="90A4AE"/>
                </a:solidFill>
              </a:rPr>
              <a:t>160ps</a:t>
            </a:r>
          </a:p>
        </p:txBody>
      </p:sp>
      <p:cxnSp>
        <p:nvCxnSpPr>
          <p:cNvPr id="104" name="Connector 105">
            <a:extLst>
              <a:ext uri="{FF2B5EF4-FFF2-40B4-BE49-F238E27FC236}">
                <a16:creationId xmlns:a16="http://schemas.microsoft.com/office/drawing/2014/main" id="{C4EED6E5-FC24-3516-BA45-645179AEA7F1}"/>
              </a:ext>
            </a:extLst>
          </p:cNvPr>
          <p:cNvCxnSpPr>
            <a:cxnSpLocks/>
          </p:cNvCxnSpPr>
          <p:nvPr/>
        </p:nvCxnSpPr>
        <p:spPr>
          <a:xfrm>
            <a:off x="6867144" y="4965192"/>
            <a:ext cx="0" cy="109728"/>
          </a:xfrm>
          <a:prstGeom prst="line">
            <a:avLst/>
          </a:prstGeom>
          <a:ln w="12700">
            <a:solidFill>
              <a:srgbClr val="B0BE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TextBox 104">
            <a:extLst>
              <a:ext uri="{FF2B5EF4-FFF2-40B4-BE49-F238E27FC236}">
                <a16:creationId xmlns:a16="http://schemas.microsoft.com/office/drawing/2014/main" id="{E4C6BCDC-ED10-7D01-9ECD-0CF19E25B08C}"/>
              </a:ext>
            </a:extLst>
          </p:cNvPr>
          <p:cNvSpPr txBox="1"/>
          <p:nvPr/>
        </p:nvSpPr>
        <p:spPr>
          <a:xfrm>
            <a:off x="6702552" y="4948017"/>
            <a:ext cx="393192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 i="0" dirty="0">
                <a:solidFill>
                  <a:srgbClr val="90A4AE"/>
                </a:solidFill>
              </a:rPr>
              <a:t>170ps</a:t>
            </a:r>
          </a:p>
        </p:txBody>
      </p:sp>
      <p:cxnSp>
        <p:nvCxnSpPr>
          <p:cNvPr id="106" name="Connector 107">
            <a:extLst>
              <a:ext uri="{FF2B5EF4-FFF2-40B4-BE49-F238E27FC236}">
                <a16:creationId xmlns:a16="http://schemas.microsoft.com/office/drawing/2014/main" id="{53925B7B-D294-05D4-69DF-62BCE42F1640}"/>
              </a:ext>
            </a:extLst>
          </p:cNvPr>
          <p:cNvCxnSpPr>
            <a:cxnSpLocks/>
          </p:cNvCxnSpPr>
          <p:nvPr/>
        </p:nvCxnSpPr>
        <p:spPr>
          <a:xfrm>
            <a:off x="7260336" y="4965192"/>
            <a:ext cx="0" cy="109728"/>
          </a:xfrm>
          <a:prstGeom prst="line">
            <a:avLst/>
          </a:prstGeom>
          <a:ln w="12700">
            <a:solidFill>
              <a:srgbClr val="B0BE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TextBox 106">
            <a:extLst>
              <a:ext uri="{FF2B5EF4-FFF2-40B4-BE49-F238E27FC236}">
                <a16:creationId xmlns:a16="http://schemas.microsoft.com/office/drawing/2014/main" id="{A7F914F3-F8C8-9B8D-5825-0AEE26E3EAA9}"/>
              </a:ext>
            </a:extLst>
          </p:cNvPr>
          <p:cNvSpPr txBox="1"/>
          <p:nvPr/>
        </p:nvSpPr>
        <p:spPr>
          <a:xfrm>
            <a:off x="7095744" y="4948017"/>
            <a:ext cx="393192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 i="0">
                <a:solidFill>
                  <a:srgbClr val="90A4AE"/>
                </a:solidFill>
              </a:rPr>
              <a:t>180ps</a:t>
            </a:r>
          </a:p>
        </p:txBody>
      </p:sp>
      <p:cxnSp>
        <p:nvCxnSpPr>
          <p:cNvPr id="108" name="Connector 109">
            <a:extLst>
              <a:ext uri="{FF2B5EF4-FFF2-40B4-BE49-F238E27FC236}">
                <a16:creationId xmlns:a16="http://schemas.microsoft.com/office/drawing/2014/main" id="{44B8EB9B-678C-50D7-3138-4341F430BB64}"/>
              </a:ext>
            </a:extLst>
          </p:cNvPr>
          <p:cNvCxnSpPr>
            <a:cxnSpLocks/>
          </p:cNvCxnSpPr>
          <p:nvPr/>
        </p:nvCxnSpPr>
        <p:spPr>
          <a:xfrm>
            <a:off x="7653527" y="4965192"/>
            <a:ext cx="0" cy="109728"/>
          </a:xfrm>
          <a:prstGeom prst="line">
            <a:avLst/>
          </a:prstGeom>
          <a:ln w="12700">
            <a:solidFill>
              <a:srgbClr val="B0BE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6D47BDD0-504B-8F67-0CC2-448B6C6B1975}"/>
              </a:ext>
            </a:extLst>
          </p:cNvPr>
          <p:cNvSpPr txBox="1"/>
          <p:nvPr/>
        </p:nvSpPr>
        <p:spPr>
          <a:xfrm>
            <a:off x="7488936" y="4948017"/>
            <a:ext cx="393192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 i="0">
                <a:solidFill>
                  <a:srgbClr val="90A4AE"/>
                </a:solidFill>
              </a:rPr>
              <a:t>190ps</a:t>
            </a:r>
          </a:p>
        </p:txBody>
      </p:sp>
      <p:cxnSp>
        <p:nvCxnSpPr>
          <p:cNvPr id="110" name="Connector 111">
            <a:extLst>
              <a:ext uri="{FF2B5EF4-FFF2-40B4-BE49-F238E27FC236}">
                <a16:creationId xmlns:a16="http://schemas.microsoft.com/office/drawing/2014/main" id="{BFE87791-E080-4A2F-2DA9-4D294122751B}"/>
              </a:ext>
            </a:extLst>
          </p:cNvPr>
          <p:cNvCxnSpPr>
            <a:cxnSpLocks/>
          </p:cNvCxnSpPr>
          <p:nvPr/>
        </p:nvCxnSpPr>
        <p:spPr>
          <a:xfrm>
            <a:off x="8046720" y="4965192"/>
            <a:ext cx="0" cy="109728"/>
          </a:xfrm>
          <a:prstGeom prst="line">
            <a:avLst/>
          </a:prstGeom>
          <a:ln w="12700">
            <a:solidFill>
              <a:srgbClr val="B0BE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TextBox 110">
            <a:extLst>
              <a:ext uri="{FF2B5EF4-FFF2-40B4-BE49-F238E27FC236}">
                <a16:creationId xmlns:a16="http://schemas.microsoft.com/office/drawing/2014/main" id="{52629228-03F8-2902-6979-62D0437AB4FD}"/>
              </a:ext>
            </a:extLst>
          </p:cNvPr>
          <p:cNvSpPr txBox="1"/>
          <p:nvPr/>
        </p:nvSpPr>
        <p:spPr>
          <a:xfrm>
            <a:off x="7882128" y="4948017"/>
            <a:ext cx="39319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 i="0" dirty="0">
                <a:solidFill>
                  <a:srgbClr val="90A4AE"/>
                </a:solidFill>
              </a:rPr>
              <a:t>200ps</a:t>
            </a:r>
          </a:p>
        </p:txBody>
      </p:sp>
      <p:cxnSp>
        <p:nvCxnSpPr>
          <p:cNvPr id="112" name="Connector 113">
            <a:extLst>
              <a:ext uri="{FF2B5EF4-FFF2-40B4-BE49-F238E27FC236}">
                <a16:creationId xmlns:a16="http://schemas.microsoft.com/office/drawing/2014/main" id="{D1AA26EC-50CF-8BE9-D36A-34BDE05314EE}"/>
              </a:ext>
            </a:extLst>
          </p:cNvPr>
          <p:cNvCxnSpPr/>
          <p:nvPr/>
        </p:nvCxnSpPr>
        <p:spPr>
          <a:xfrm>
            <a:off x="6080760" y="4297680"/>
            <a:ext cx="0" cy="667512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Rectangle 114">
            <a:extLst>
              <a:ext uri="{FF2B5EF4-FFF2-40B4-BE49-F238E27FC236}">
                <a16:creationId xmlns:a16="http://schemas.microsoft.com/office/drawing/2014/main" id="{C350B6C3-1611-35B7-7F9B-D6A77AB92069}"/>
              </a:ext>
            </a:extLst>
          </p:cNvPr>
          <p:cNvSpPr/>
          <p:nvPr/>
        </p:nvSpPr>
        <p:spPr>
          <a:xfrm>
            <a:off x="8046719" y="4297680"/>
            <a:ext cx="3904487" cy="685800"/>
          </a:xfrm>
          <a:prstGeom prst="rect">
            <a:avLst/>
          </a:prstGeom>
          <a:solidFill>
            <a:srgbClr val="ECEFF1"/>
          </a:solidFill>
          <a:ln w="12700">
            <a:solidFill>
              <a:srgbClr val="B0BE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114" name="Rectangle 115">
            <a:extLst>
              <a:ext uri="{FF2B5EF4-FFF2-40B4-BE49-F238E27FC236}">
                <a16:creationId xmlns:a16="http://schemas.microsoft.com/office/drawing/2014/main" id="{A5F6F526-65F2-FA4B-4B90-EBB2966CCA2C}"/>
              </a:ext>
            </a:extLst>
          </p:cNvPr>
          <p:cNvSpPr/>
          <p:nvPr/>
        </p:nvSpPr>
        <p:spPr>
          <a:xfrm>
            <a:off x="8055863" y="4315968"/>
            <a:ext cx="1938528" cy="649224"/>
          </a:xfrm>
          <a:prstGeom prst="rect">
            <a:avLst/>
          </a:prstGeom>
          <a:solidFill>
            <a:srgbClr val="388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3st DATA
50ps
(50/100GHz)</a:t>
            </a:r>
          </a:p>
        </p:txBody>
      </p:sp>
      <p:sp>
        <p:nvSpPr>
          <p:cNvPr id="115" name="Rectangle 116">
            <a:extLst>
              <a:ext uri="{FF2B5EF4-FFF2-40B4-BE49-F238E27FC236}">
                <a16:creationId xmlns:a16="http://schemas.microsoft.com/office/drawing/2014/main" id="{BF73349C-78EC-FF3E-00CA-C2B68EC0D107}"/>
              </a:ext>
            </a:extLst>
          </p:cNvPr>
          <p:cNvSpPr/>
          <p:nvPr/>
        </p:nvSpPr>
        <p:spPr>
          <a:xfrm>
            <a:off x="10012680" y="4315968"/>
            <a:ext cx="1929384" cy="649224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NC   50ps   (50/100GHz)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699F00F6-C902-3D57-062E-A2B5930B2B0A}"/>
              </a:ext>
            </a:extLst>
          </p:cNvPr>
          <p:cNvSpPr txBox="1"/>
          <p:nvPr/>
        </p:nvSpPr>
        <p:spPr>
          <a:xfrm>
            <a:off x="8046719" y="4055698"/>
            <a:ext cx="3931920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i="0">
                <a:solidFill>
                  <a:srgbClr val="37474F"/>
                </a:solidFill>
              </a:rPr>
              <a:t>Cycle 3  (200~300ps)</a:t>
            </a:r>
          </a:p>
        </p:txBody>
      </p:sp>
      <p:cxnSp>
        <p:nvCxnSpPr>
          <p:cNvPr id="117" name="Connector 118">
            <a:extLst>
              <a:ext uri="{FF2B5EF4-FFF2-40B4-BE49-F238E27FC236}">
                <a16:creationId xmlns:a16="http://schemas.microsoft.com/office/drawing/2014/main" id="{2EB7C74D-AA56-FE0E-17ED-3A8902A92D7A}"/>
              </a:ext>
            </a:extLst>
          </p:cNvPr>
          <p:cNvCxnSpPr/>
          <p:nvPr/>
        </p:nvCxnSpPr>
        <p:spPr>
          <a:xfrm>
            <a:off x="8046719" y="4059936"/>
            <a:ext cx="0" cy="1014984"/>
          </a:xfrm>
          <a:prstGeom prst="line">
            <a:avLst/>
          </a:prstGeom>
          <a:ln w="19050">
            <a:solidFill>
              <a:srgbClr val="1A23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9">
            <a:extLst>
              <a:ext uri="{FF2B5EF4-FFF2-40B4-BE49-F238E27FC236}">
                <a16:creationId xmlns:a16="http://schemas.microsoft.com/office/drawing/2014/main" id="{ECBE6B6D-714D-6C45-50CB-701835678340}"/>
              </a:ext>
            </a:extLst>
          </p:cNvPr>
          <p:cNvCxnSpPr>
            <a:cxnSpLocks/>
          </p:cNvCxnSpPr>
          <p:nvPr/>
        </p:nvCxnSpPr>
        <p:spPr>
          <a:xfrm>
            <a:off x="8046719" y="4965192"/>
            <a:ext cx="0" cy="109728"/>
          </a:xfrm>
          <a:prstGeom prst="line">
            <a:avLst/>
          </a:prstGeom>
          <a:ln w="12700">
            <a:solidFill>
              <a:srgbClr val="B0BE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21">
            <a:extLst>
              <a:ext uri="{FF2B5EF4-FFF2-40B4-BE49-F238E27FC236}">
                <a16:creationId xmlns:a16="http://schemas.microsoft.com/office/drawing/2014/main" id="{047C9466-8787-16AA-666A-EFD22977C59B}"/>
              </a:ext>
            </a:extLst>
          </p:cNvPr>
          <p:cNvCxnSpPr>
            <a:cxnSpLocks/>
          </p:cNvCxnSpPr>
          <p:nvPr/>
        </p:nvCxnSpPr>
        <p:spPr>
          <a:xfrm>
            <a:off x="8439911" y="4965192"/>
            <a:ext cx="0" cy="109728"/>
          </a:xfrm>
          <a:prstGeom prst="line">
            <a:avLst/>
          </a:prstGeom>
          <a:ln w="12700">
            <a:solidFill>
              <a:srgbClr val="B0BE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TextBox 119">
            <a:extLst>
              <a:ext uri="{FF2B5EF4-FFF2-40B4-BE49-F238E27FC236}">
                <a16:creationId xmlns:a16="http://schemas.microsoft.com/office/drawing/2014/main" id="{069D93E2-C1C3-8467-8E6B-2C1678272C5D}"/>
              </a:ext>
            </a:extLst>
          </p:cNvPr>
          <p:cNvSpPr txBox="1"/>
          <p:nvPr/>
        </p:nvSpPr>
        <p:spPr>
          <a:xfrm>
            <a:off x="8275318" y="4948017"/>
            <a:ext cx="393191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 i="0" dirty="0">
                <a:solidFill>
                  <a:srgbClr val="90A4AE"/>
                </a:solidFill>
              </a:rPr>
              <a:t>210ps</a:t>
            </a:r>
          </a:p>
        </p:txBody>
      </p:sp>
      <p:cxnSp>
        <p:nvCxnSpPr>
          <p:cNvPr id="121" name="Connector 123">
            <a:extLst>
              <a:ext uri="{FF2B5EF4-FFF2-40B4-BE49-F238E27FC236}">
                <a16:creationId xmlns:a16="http://schemas.microsoft.com/office/drawing/2014/main" id="{529352EF-B2DC-E7E9-186D-BBCEFC46DA41}"/>
              </a:ext>
            </a:extLst>
          </p:cNvPr>
          <p:cNvCxnSpPr>
            <a:cxnSpLocks/>
          </p:cNvCxnSpPr>
          <p:nvPr/>
        </p:nvCxnSpPr>
        <p:spPr>
          <a:xfrm>
            <a:off x="8833103" y="4965192"/>
            <a:ext cx="0" cy="109728"/>
          </a:xfrm>
          <a:prstGeom prst="line">
            <a:avLst/>
          </a:prstGeom>
          <a:ln w="12700">
            <a:solidFill>
              <a:srgbClr val="B0BE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TextBox 121">
            <a:extLst>
              <a:ext uri="{FF2B5EF4-FFF2-40B4-BE49-F238E27FC236}">
                <a16:creationId xmlns:a16="http://schemas.microsoft.com/office/drawing/2014/main" id="{4FEDD31D-35BE-994F-6B65-9949B0627028}"/>
              </a:ext>
            </a:extLst>
          </p:cNvPr>
          <p:cNvSpPr txBox="1"/>
          <p:nvPr/>
        </p:nvSpPr>
        <p:spPr>
          <a:xfrm>
            <a:off x="8668510" y="4948017"/>
            <a:ext cx="393513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 i="0" dirty="0">
                <a:solidFill>
                  <a:srgbClr val="90A4AE"/>
                </a:solidFill>
              </a:rPr>
              <a:t>220ps</a:t>
            </a:r>
          </a:p>
        </p:txBody>
      </p:sp>
      <p:cxnSp>
        <p:nvCxnSpPr>
          <p:cNvPr id="123" name="Connector 125">
            <a:extLst>
              <a:ext uri="{FF2B5EF4-FFF2-40B4-BE49-F238E27FC236}">
                <a16:creationId xmlns:a16="http://schemas.microsoft.com/office/drawing/2014/main" id="{E79C9A05-A16F-9369-37B5-9A81A6BEC6FB}"/>
              </a:ext>
            </a:extLst>
          </p:cNvPr>
          <p:cNvCxnSpPr>
            <a:cxnSpLocks/>
          </p:cNvCxnSpPr>
          <p:nvPr/>
        </p:nvCxnSpPr>
        <p:spPr>
          <a:xfrm>
            <a:off x="9226295" y="4965192"/>
            <a:ext cx="0" cy="109728"/>
          </a:xfrm>
          <a:prstGeom prst="line">
            <a:avLst/>
          </a:prstGeom>
          <a:ln w="12700">
            <a:solidFill>
              <a:srgbClr val="B0BE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TextBox 123">
            <a:extLst>
              <a:ext uri="{FF2B5EF4-FFF2-40B4-BE49-F238E27FC236}">
                <a16:creationId xmlns:a16="http://schemas.microsoft.com/office/drawing/2014/main" id="{4EBB5D64-2301-46C7-F57F-0D2835AD78B5}"/>
              </a:ext>
            </a:extLst>
          </p:cNvPr>
          <p:cNvSpPr txBox="1"/>
          <p:nvPr/>
        </p:nvSpPr>
        <p:spPr>
          <a:xfrm>
            <a:off x="9061703" y="4948017"/>
            <a:ext cx="393192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 i="0" dirty="0">
                <a:solidFill>
                  <a:srgbClr val="90A4AE"/>
                </a:solidFill>
              </a:rPr>
              <a:t>230ps</a:t>
            </a:r>
          </a:p>
        </p:txBody>
      </p:sp>
      <p:cxnSp>
        <p:nvCxnSpPr>
          <p:cNvPr id="125" name="Connector 127">
            <a:extLst>
              <a:ext uri="{FF2B5EF4-FFF2-40B4-BE49-F238E27FC236}">
                <a16:creationId xmlns:a16="http://schemas.microsoft.com/office/drawing/2014/main" id="{DDB2FD84-15F3-C47A-40F5-683D2CE070C4}"/>
              </a:ext>
            </a:extLst>
          </p:cNvPr>
          <p:cNvCxnSpPr>
            <a:cxnSpLocks/>
          </p:cNvCxnSpPr>
          <p:nvPr/>
        </p:nvCxnSpPr>
        <p:spPr>
          <a:xfrm>
            <a:off x="9619488" y="4965192"/>
            <a:ext cx="0" cy="109728"/>
          </a:xfrm>
          <a:prstGeom prst="line">
            <a:avLst/>
          </a:prstGeom>
          <a:ln w="12700">
            <a:solidFill>
              <a:srgbClr val="B0BE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TextBox 125">
            <a:extLst>
              <a:ext uri="{FF2B5EF4-FFF2-40B4-BE49-F238E27FC236}">
                <a16:creationId xmlns:a16="http://schemas.microsoft.com/office/drawing/2014/main" id="{DC461642-884B-ED5B-C9C3-1BC079337257}"/>
              </a:ext>
            </a:extLst>
          </p:cNvPr>
          <p:cNvSpPr txBox="1"/>
          <p:nvPr/>
        </p:nvSpPr>
        <p:spPr>
          <a:xfrm>
            <a:off x="9454895" y="4948017"/>
            <a:ext cx="393191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 i="0" dirty="0">
                <a:solidFill>
                  <a:srgbClr val="90A4AE"/>
                </a:solidFill>
              </a:rPr>
              <a:t>240ps</a:t>
            </a:r>
          </a:p>
        </p:txBody>
      </p:sp>
      <p:cxnSp>
        <p:nvCxnSpPr>
          <p:cNvPr id="127" name="Connector 129">
            <a:extLst>
              <a:ext uri="{FF2B5EF4-FFF2-40B4-BE49-F238E27FC236}">
                <a16:creationId xmlns:a16="http://schemas.microsoft.com/office/drawing/2014/main" id="{7F06445F-5F1F-71B0-7E9C-4C49743F70D5}"/>
              </a:ext>
            </a:extLst>
          </p:cNvPr>
          <p:cNvCxnSpPr>
            <a:cxnSpLocks/>
          </p:cNvCxnSpPr>
          <p:nvPr/>
        </p:nvCxnSpPr>
        <p:spPr>
          <a:xfrm>
            <a:off x="10012680" y="4965192"/>
            <a:ext cx="0" cy="109728"/>
          </a:xfrm>
          <a:prstGeom prst="line">
            <a:avLst/>
          </a:prstGeom>
          <a:ln w="12700">
            <a:solidFill>
              <a:srgbClr val="B0BE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2C660CB-3D91-0134-68FC-88DB0D2EE090}"/>
              </a:ext>
            </a:extLst>
          </p:cNvPr>
          <p:cNvSpPr txBox="1"/>
          <p:nvPr/>
        </p:nvSpPr>
        <p:spPr>
          <a:xfrm>
            <a:off x="9848087" y="4948017"/>
            <a:ext cx="393191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 i="0">
                <a:solidFill>
                  <a:srgbClr val="90A4AE"/>
                </a:solidFill>
              </a:rPr>
              <a:t>250ps</a:t>
            </a:r>
          </a:p>
        </p:txBody>
      </p:sp>
      <p:cxnSp>
        <p:nvCxnSpPr>
          <p:cNvPr id="129" name="Connector 131">
            <a:extLst>
              <a:ext uri="{FF2B5EF4-FFF2-40B4-BE49-F238E27FC236}">
                <a16:creationId xmlns:a16="http://schemas.microsoft.com/office/drawing/2014/main" id="{FEDCB460-355E-2682-A899-CC4261D8BDA7}"/>
              </a:ext>
            </a:extLst>
          </p:cNvPr>
          <p:cNvCxnSpPr>
            <a:cxnSpLocks/>
          </p:cNvCxnSpPr>
          <p:nvPr/>
        </p:nvCxnSpPr>
        <p:spPr>
          <a:xfrm>
            <a:off x="10405872" y="4965192"/>
            <a:ext cx="0" cy="109728"/>
          </a:xfrm>
          <a:prstGeom prst="line">
            <a:avLst/>
          </a:prstGeom>
          <a:ln w="12700">
            <a:solidFill>
              <a:srgbClr val="B0BE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TextBox 129">
            <a:extLst>
              <a:ext uri="{FF2B5EF4-FFF2-40B4-BE49-F238E27FC236}">
                <a16:creationId xmlns:a16="http://schemas.microsoft.com/office/drawing/2014/main" id="{2E4DEA9B-11C5-90DE-6383-05A9B5BFA05C}"/>
              </a:ext>
            </a:extLst>
          </p:cNvPr>
          <p:cNvSpPr txBox="1"/>
          <p:nvPr/>
        </p:nvSpPr>
        <p:spPr>
          <a:xfrm>
            <a:off x="10241279" y="4948017"/>
            <a:ext cx="393191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 i="0" dirty="0">
                <a:solidFill>
                  <a:srgbClr val="90A4AE"/>
                </a:solidFill>
              </a:rPr>
              <a:t>260ps</a:t>
            </a:r>
          </a:p>
        </p:txBody>
      </p:sp>
      <p:cxnSp>
        <p:nvCxnSpPr>
          <p:cNvPr id="131" name="Connector 133">
            <a:extLst>
              <a:ext uri="{FF2B5EF4-FFF2-40B4-BE49-F238E27FC236}">
                <a16:creationId xmlns:a16="http://schemas.microsoft.com/office/drawing/2014/main" id="{CFA4D876-300C-B07A-394A-E160EC2F041D}"/>
              </a:ext>
            </a:extLst>
          </p:cNvPr>
          <p:cNvCxnSpPr>
            <a:cxnSpLocks/>
          </p:cNvCxnSpPr>
          <p:nvPr/>
        </p:nvCxnSpPr>
        <p:spPr>
          <a:xfrm>
            <a:off x="10799063" y="4965192"/>
            <a:ext cx="0" cy="109728"/>
          </a:xfrm>
          <a:prstGeom prst="line">
            <a:avLst/>
          </a:prstGeom>
          <a:ln w="12700">
            <a:solidFill>
              <a:srgbClr val="B0BE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TextBox 131">
            <a:extLst>
              <a:ext uri="{FF2B5EF4-FFF2-40B4-BE49-F238E27FC236}">
                <a16:creationId xmlns:a16="http://schemas.microsoft.com/office/drawing/2014/main" id="{FC563A22-85E0-DB36-0646-E45D224924ED}"/>
              </a:ext>
            </a:extLst>
          </p:cNvPr>
          <p:cNvSpPr txBox="1"/>
          <p:nvPr/>
        </p:nvSpPr>
        <p:spPr>
          <a:xfrm>
            <a:off x="10634471" y="4948017"/>
            <a:ext cx="393191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 i="0" dirty="0">
                <a:solidFill>
                  <a:srgbClr val="90A4AE"/>
                </a:solidFill>
              </a:rPr>
              <a:t>270ps</a:t>
            </a:r>
          </a:p>
        </p:txBody>
      </p:sp>
      <p:cxnSp>
        <p:nvCxnSpPr>
          <p:cNvPr id="133" name="Connector 135">
            <a:extLst>
              <a:ext uri="{FF2B5EF4-FFF2-40B4-BE49-F238E27FC236}">
                <a16:creationId xmlns:a16="http://schemas.microsoft.com/office/drawing/2014/main" id="{16B77FAD-0A8C-08A8-F138-5C31586EDC2E}"/>
              </a:ext>
            </a:extLst>
          </p:cNvPr>
          <p:cNvCxnSpPr>
            <a:cxnSpLocks/>
          </p:cNvCxnSpPr>
          <p:nvPr/>
        </p:nvCxnSpPr>
        <p:spPr>
          <a:xfrm>
            <a:off x="11192255" y="4965192"/>
            <a:ext cx="0" cy="109728"/>
          </a:xfrm>
          <a:prstGeom prst="line">
            <a:avLst/>
          </a:prstGeom>
          <a:ln w="12700">
            <a:solidFill>
              <a:srgbClr val="B0BE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4" name="TextBox 133">
            <a:extLst>
              <a:ext uri="{FF2B5EF4-FFF2-40B4-BE49-F238E27FC236}">
                <a16:creationId xmlns:a16="http://schemas.microsoft.com/office/drawing/2014/main" id="{C07E3134-82FA-15B9-4263-CE91EB9F100D}"/>
              </a:ext>
            </a:extLst>
          </p:cNvPr>
          <p:cNvSpPr txBox="1"/>
          <p:nvPr/>
        </p:nvSpPr>
        <p:spPr>
          <a:xfrm>
            <a:off x="11027663" y="4948017"/>
            <a:ext cx="393192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 i="0" dirty="0">
                <a:solidFill>
                  <a:srgbClr val="90A4AE"/>
                </a:solidFill>
              </a:rPr>
              <a:t>280ps</a:t>
            </a:r>
          </a:p>
        </p:txBody>
      </p:sp>
      <p:cxnSp>
        <p:nvCxnSpPr>
          <p:cNvPr id="135" name="Connector 137">
            <a:extLst>
              <a:ext uri="{FF2B5EF4-FFF2-40B4-BE49-F238E27FC236}">
                <a16:creationId xmlns:a16="http://schemas.microsoft.com/office/drawing/2014/main" id="{B104692B-F14E-3C2B-EB09-0F82034AF419}"/>
              </a:ext>
            </a:extLst>
          </p:cNvPr>
          <p:cNvCxnSpPr>
            <a:cxnSpLocks/>
          </p:cNvCxnSpPr>
          <p:nvPr/>
        </p:nvCxnSpPr>
        <p:spPr>
          <a:xfrm>
            <a:off x="11585447" y="4965192"/>
            <a:ext cx="0" cy="109728"/>
          </a:xfrm>
          <a:prstGeom prst="line">
            <a:avLst/>
          </a:prstGeom>
          <a:ln w="12700">
            <a:solidFill>
              <a:srgbClr val="B0BE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TextBox 135">
            <a:extLst>
              <a:ext uri="{FF2B5EF4-FFF2-40B4-BE49-F238E27FC236}">
                <a16:creationId xmlns:a16="http://schemas.microsoft.com/office/drawing/2014/main" id="{68D43389-3EF8-4872-A708-DD7C403950C7}"/>
              </a:ext>
            </a:extLst>
          </p:cNvPr>
          <p:cNvSpPr txBox="1"/>
          <p:nvPr/>
        </p:nvSpPr>
        <p:spPr>
          <a:xfrm>
            <a:off x="11420855" y="4948017"/>
            <a:ext cx="393192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 i="0" dirty="0">
                <a:solidFill>
                  <a:srgbClr val="90A4AE"/>
                </a:solidFill>
              </a:rPr>
              <a:t>290ps</a:t>
            </a:r>
          </a:p>
        </p:txBody>
      </p:sp>
      <p:cxnSp>
        <p:nvCxnSpPr>
          <p:cNvPr id="137" name="Connector 139">
            <a:extLst>
              <a:ext uri="{FF2B5EF4-FFF2-40B4-BE49-F238E27FC236}">
                <a16:creationId xmlns:a16="http://schemas.microsoft.com/office/drawing/2014/main" id="{12E8D678-F034-5118-C328-FDA9C8E4BF35}"/>
              </a:ext>
            </a:extLst>
          </p:cNvPr>
          <p:cNvCxnSpPr>
            <a:cxnSpLocks/>
          </p:cNvCxnSpPr>
          <p:nvPr/>
        </p:nvCxnSpPr>
        <p:spPr>
          <a:xfrm>
            <a:off x="11978639" y="4965192"/>
            <a:ext cx="0" cy="109728"/>
          </a:xfrm>
          <a:prstGeom prst="line">
            <a:avLst/>
          </a:prstGeom>
          <a:ln w="12700">
            <a:solidFill>
              <a:srgbClr val="B0BE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8" name="TextBox 137">
            <a:extLst>
              <a:ext uri="{FF2B5EF4-FFF2-40B4-BE49-F238E27FC236}">
                <a16:creationId xmlns:a16="http://schemas.microsoft.com/office/drawing/2014/main" id="{C92B4EF4-AA23-4869-6F8F-EB4DCBF4523D}"/>
              </a:ext>
            </a:extLst>
          </p:cNvPr>
          <p:cNvSpPr txBox="1"/>
          <p:nvPr/>
        </p:nvSpPr>
        <p:spPr>
          <a:xfrm>
            <a:off x="11814047" y="4948017"/>
            <a:ext cx="435292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 i="0" dirty="0">
                <a:solidFill>
                  <a:srgbClr val="90A4AE"/>
                </a:solidFill>
              </a:rPr>
              <a:t>300ps</a:t>
            </a:r>
          </a:p>
        </p:txBody>
      </p:sp>
      <p:cxnSp>
        <p:nvCxnSpPr>
          <p:cNvPr id="139" name="Connector 141">
            <a:extLst>
              <a:ext uri="{FF2B5EF4-FFF2-40B4-BE49-F238E27FC236}">
                <a16:creationId xmlns:a16="http://schemas.microsoft.com/office/drawing/2014/main" id="{8BCC52B1-EBF6-C0BC-A98D-FCFDF6B0C1EA}"/>
              </a:ext>
            </a:extLst>
          </p:cNvPr>
          <p:cNvCxnSpPr/>
          <p:nvPr/>
        </p:nvCxnSpPr>
        <p:spPr>
          <a:xfrm>
            <a:off x="10012680" y="4297680"/>
            <a:ext cx="0" cy="667512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0" name="TextBox 139">
            <a:extLst>
              <a:ext uri="{FF2B5EF4-FFF2-40B4-BE49-F238E27FC236}">
                <a16:creationId xmlns:a16="http://schemas.microsoft.com/office/drawing/2014/main" id="{B6B18F9F-7A70-25BC-FACC-11CF96A2DCE3}"/>
              </a:ext>
            </a:extLst>
          </p:cNvPr>
          <p:cNvSpPr txBox="1"/>
          <p:nvPr/>
        </p:nvSpPr>
        <p:spPr>
          <a:xfrm>
            <a:off x="228599" y="5316900"/>
            <a:ext cx="11795760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 dirty="0">
                <a:solidFill>
                  <a:srgbClr val="37474F"/>
                </a:solidFill>
              </a:rPr>
              <a:t>Method-B 50:50 — Each DATA(50ps) gets immediate NC(50ps)  |  Max reliability  |  Implementable with current electronics  |  3x100ps=300ps / 3data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8DE807DA-4207-1AA0-E500-73FABC4E3261}"/>
              </a:ext>
            </a:extLst>
          </p:cNvPr>
          <p:cNvSpPr txBox="1"/>
          <p:nvPr/>
        </p:nvSpPr>
        <p:spPr>
          <a:xfrm>
            <a:off x="182880" y="5468112"/>
            <a:ext cx="109728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1" i="0">
                <a:solidFill>
                  <a:srgbClr val="1A237E"/>
                </a:solidFill>
              </a:rPr>
              <a:t>(8) TRAVEL DISTANCE  during  50ps  (DATA Window)</a:t>
            </a:r>
          </a:p>
        </p:txBody>
      </p:sp>
      <p:sp>
        <p:nvSpPr>
          <p:cNvPr id="142" name="Rectangle 144">
            <a:extLst>
              <a:ext uri="{FF2B5EF4-FFF2-40B4-BE49-F238E27FC236}">
                <a16:creationId xmlns:a16="http://schemas.microsoft.com/office/drawing/2014/main" id="{E75F0987-1F0B-56EF-0D88-4EFC731460FB}"/>
              </a:ext>
            </a:extLst>
          </p:cNvPr>
          <p:cNvSpPr/>
          <p:nvPr/>
        </p:nvSpPr>
        <p:spPr>
          <a:xfrm>
            <a:off x="182880" y="5696712"/>
            <a:ext cx="5486400" cy="347472"/>
          </a:xfrm>
          <a:prstGeom prst="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Light (vacuum):  c = 3x10^8 m/s  --&gt;  3x10^8 x 50ps = 15 mm</a:t>
            </a:r>
          </a:p>
        </p:txBody>
      </p:sp>
      <p:sp>
        <p:nvSpPr>
          <p:cNvPr id="143" name="Rectangle 145">
            <a:extLst>
              <a:ext uri="{FF2B5EF4-FFF2-40B4-BE49-F238E27FC236}">
                <a16:creationId xmlns:a16="http://schemas.microsoft.com/office/drawing/2014/main" id="{F0F0B6F9-B3A7-EE3B-3EE0-4A90AFD0A1E7}"/>
              </a:ext>
            </a:extLst>
          </p:cNvPr>
          <p:cNvSpPr/>
          <p:nvPr/>
        </p:nvSpPr>
        <p:spPr>
          <a:xfrm>
            <a:off x="182880" y="6089904"/>
            <a:ext cx="5486400" cy="347472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Electron (wire): ~1%c = 3x10^6 m/s  --&gt;  3x10^6 x 50ps = 0.15 mm</a:t>
            </a:r>
          </a:p>
        </p:txBody>
      </p:sp>
      <p:sp>
        <p:nvSpPr>
          <p:cNvPr id="144" name="Rectangle 146">
            <a:extLst>
              <a:ext uri="{FF2B5EF4-FFF2-40B4-BE49-F238E27FC236}">
                <a16:creationId xmlns:a16="http://schemas.microsoft.com/office/drawing/2014/main" id="{C5E5C661-08AC-088A-B07F-DDF36AF1FCA9}"/>
              </a:ext>
            </a:extLst>
          </p:cNvPr>
          <p:cNvSpPr/>
          <p:nvPr/>
        </p:nvSpPr>
        <p:spPr>
          <a:xfrm>
            <a:off x="5943600" y="5696712"/>
            <a:ext cx="6035040" cy="347472"/>
          </a:xfrm>
          <a:prstGeom prst="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Light:  15 mm</a:t>
            </a:r>
          </a:p>
        </p:txBody>
      </p:sp>
      <p:sp>
        <p:nvSpPr>
          <p:cNvPr id="145" name="Rectangle 147">
            <a:extLst>
              <a:ext uri="{FF2B5EF4-FFF2-40B4-BE49-F238E27FC236}">
                <a16:creationId xmlns:a16="http://schemas.microsoft.com/office/drawing/2014/main" id="{6D644CF3-ADE4-7B1B-DF66-1F24C29BE7B5}"/>
              </a:ext>
            </a:extLst>
          </p:cNvPr>
          <p:cNvSpPr/>
          <p:nvPr/>
        </p:nvSpPr>
        <p:spPr>
          <a:xfrm>
            <a:off x="5943600" y="6089904"/>
            <a:ext cx="301752" cy="347472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034E41E4-69FD-639D-0253-B914FEA5FE61}"/>
              </a:ext>
            </a:extLst>
          </p:cNvPr>
          <p:cNvSpPr txBox="1"/>
          <p:nvPr/>
        </p:nvSpPr>
        <p:spPr>
          <a:xfrm>
            <a:off x="6291072" y="6126480"/>
            <a:ext cx="4572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 i="0">
                <a:solidFill>
                  <a:srgbClr val="6A1B9A"/>
                </a:solidFill>
              </a:rPr>
              <a:t>Electron:  0.15 mm  (x100 smaller)</a:t>
            </a:r>
          </a:p>
        </p:txBody>
      </p:sp>
      <p:sp>
        <p:nvSpPr>
          <p:cNvPr id="147" name="Rectangle 149">
            <a:extLst>
              <a:ext uri="{FF2B5EF4-FFF2-40B4-BE49-F238E27FC236}">
                <a16:creationId xmlns:a16="http://schemas.microsoft.com/office/drawing/2014/main" id="{64FA9E07-C86B-7F5D-70EA-731D6A724B8C}"/>
              </a:ext>
            </a:extLst>
          </p:cNvPr>
          <p:cNvSpPr/>
          <p:nvPr/>
        </p:nvSpPr>
        <p:spPr>
          <a:xfrm>
            <a:off x="182880" y="6473952"/>
            <a:ext cx="11795760" cy="27432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1B5E20"/>
                </a:solidFill>
              </a:rPr>
              <a:t>KEY: 50ps DATA window  |  Light travels 15mm  |  Wire 12mm &lt; 15mm  --&gt;  Signal fully arrives  |  20GHz electronics sufficient  ✓</a:t>
            </a:r>
          </a:p>
        </p:txBody>
      </p:sp>
      <p:sp>
        <p:nvSpPr>
          <p:cNvPr id="148" name="Rectangle 150">
            <a:extLst>
              <a:ext uri="{FF2B5EF4-FFF2-40B4-BE49-F238E27FC236}">
                <a16:creationId xmlns:a16="http://schemas.microsoft.com/office/drawing/2014/main" id="{117404BE-D32A-EA1F-CAE2-56F14601D000}"/>
              </a:ext>
            </a:extLst>
          </p:cNvPr>
          <p:cNvSpPr/>
          <p:nvPr/>
        </p:nvSpPr>
        <p:spPr>
          <a:xfrm>
            <a:off x="0" y="6748272"/>
            <a:ext cx="12161520" cy="109728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650" b="1">
                <a:solidFill>
                  <a:srgbClr val="FFFFFF"/>
                </a:solidFill>
              </a:rPr>
              <a:t>MQM | Free Open Source | No Patent | Inventor: Sungtae Park (scwpark) | Co-inventors: Hyunuk Pak, EunHwan Park | github.com/scwpark/MQM-PAM_OFDM_Phase-superposition_3D-mapping</a:t>
            </a:r>
          </a:p>
        </p:txBody>
      </p:sp>
    </p:spTree>
    <p:extLst>
      <p:ext uri="{BB962C8B-B14F-4D97-AF65-F5344CB8AC3E}">
        <p14:creationId xmlns:p14="http://schemas.microsoft.com/office/powerpoint/2010/main" val="33416832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C5DFC73D-4BB8-CBD0-985E-D78D8F75F4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0067" y="39325"/>
            <a:ext cx="9717750" cy="681867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587790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그룹 8">
            <a:extLst>
              <a:ext uri="{FF2B5EF4-FFF2-40B4-BE49-F238E27FC236}">
                <a16:creationId xmlns:a16="http://schemas.microsoft.com/office/drawing/2014/main" id="{631D66BE-0E82-64EF-E43F-31D5442425A7}"/>
              </a:ext>
            </a:extLst>
          </p:cNvPr>
          <p:cNvGrpSpPr/>
          <p:nvPr/>
        </p:nvGrpSpPr>
        <p:grpSpPr>
          <a:xfrm>
            <a:off x="1304544" y="0"/>
            <a:ext cx="9144000" cy="6667500"/>
            <a:chOff x="1304544" y="0"/>
            <a:chExt cx="9144000" cy="6667500"/>
          </a:xfrm>
        </p:grpSpPr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B29C9369-451E-75D5-FB96-1474A20A65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04544" y="0"/>
              <a:ext cx="9144000" cy="66675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CDC0D75-9537-333A-606B-FE14CDC1F977}"/>
                </a:ext>
              </a:extLst>
            </p:cNvPr>
            <p:cNvSpPr txBox="1"/>
            <p:nvPr/>
          </p:nvSpPr>
          <p:spPr>
            <a:xfrm>
              <a:off x="6153424" y="1019569"/>
              <a:ext cx="51560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0">
                  <a:solidFill>
                    <a:srgbClr val="00B0F0"/>
                  </a:solidFill>
                </a:rPr>
                <a:t>#1</a:t>
              </a:r>
              <a:endParaRPr lang="ko-KR" altLang="en-US" sz="1100">
                <a:solidFill>
                  <a:srgbClr val="00B0F0"/>
                </a:solidFill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8482DA3-8A15-AEF9-47B1-B769F17C8508}"/>
                </a:ext>
              </a:extLst>
            </p:cNvPr>
            <p:cNvSpPr txBox="1"/>
            <p:nvPr/>
          </p:nvSpPr>
          <p:spPr>
            <a:xfrm>
              <a:off x="6153424" y="1933969"/>
              <a:ext cx="51560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0">
                  <a:solidFill>
                    <a:srgbClr val="00B0F0"/>
                  </a:solidFill>
                </a:rPr>
                <a:t>#2</a:t>
              </a:r>
              <a:endParaRPr lang="ko-KR" altLang="en-US" sz="1100">
                <a:solidFill>
                  <a:srgbClr val="00B0F0"/>
                </a:solidFill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431C7F0-B29E-9F7E-2E68-1DA64314BC3E}"/>
                </a:ext>
              </a:extLst>
            </p:cNvPr>
            <p:cNvSpPr txBox="1"/>
            <p:nvPr/>
          </p:nvSpPr>
          <p:spPr>
            <a:xfrm>
              <a:off x="6153424" y="2897137"/>
              <a:ext cx="51560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0">
                  <a:solidFill>
                    <a:srgbClr val="00B0F0"/>
                  </a:solidFill>
                </a:rPr>
                <a:t>#3</a:t>
              </a:r>
              <a:endParaRPr lang="ko-KR" altLang="en-US" sz="1100">
                <a:solidFill>
                  <a:srgbClr val="00B0F0"/>
                </a:solidFill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AD2B47C-823D-11F0-BE8A-F5D018EEF08D}"/>
                </a:ext>
              </a:extLst>
            </p:cNvPr>
            <p:cNvSpPr txBox="1"/>
            <p:nvPr/>
          </p:nvSpPr>
          <p:spPr>
            <a:xfrm>
              <a:off x="6153423" y="4777910"/>
              <a:ext cx="63465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0">
                  <a:solidFill>
                    <a:srgbClr val="00B0F0"/>
                  </a:solidFill>
                </a:rPr>
                <a:t>#20</a:t>
              </a:r>
              <a:endParaRPr lang="ko-KR" altLang="en-US" sz="1100">
                <a:solidFill>
                  <a:srgbClr val="00B0F0"/>
                </a:solidFill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DF62074-CB13-D32A-C6E7-92E28644879A}"/>
                </a:ext>
              </a:extLst>
            </p:cNvPr>
            <p:cNvSpPr txBox="1"/>
            <p:nvPr/>
          </p:nvSpPr>
          <p:spPr>
            <a:xfrm>
              <a:off x="8022348" y="2848369"/>
              <a:ext cx="815110" cy="138499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ko-KR" sz="1200">
                  <a:solidFill>
                    <a:srgbClr val="FF0000"/>
                  </a:solidFill>
                </a:rPr>
                <a:t>1,280</a:t>
              </a:r>
              <a:r>
                <a:rPr lang="en-US" altLang="ko-KR" sz="1200"/>
                <a:t>-bits </a:t>
              </a:r>
              <a:br>
                <a:rPr lang="en-US" altLang="ko-KR" sz="1200"/>
              </a:br>
              <a:r>
                <a:rPr lang="en-US" altLang="ko-KR" sz="1200"/>
                <a:t>output</a:t>
              </a:r>
            </a:p>
            <a:p>
              <a:r>
                <a:rPr lang="en-US" altLang="ko-KR" sz="1200"/>
                <a:t>1cycle</a:t>
              </a:r>
              <a:br>
                <a:rPr lang="en-US" altLang="ko-KR" sz="1200"/>
              </a:br>
              <a:r>
                <a:rPr lang="en-US" altLang="ko-KR" sz="1200"/>
                <a:t>(100ps)</a:t>
              </a:r>
            </a:p>
            <a:p>
              <a:r>
                <a:rPr lang="en-US" altLang="ko-KR" sz="1200"/>
                <a:t>@ 10GHZ</a:t>
              </a:r>
              <a:endParaRPr lang="ko-KR" altLang="en-US" sz="1200"/>
            </a:p>
          </p:txBody>
        </p:sp>
      </p:grpSp>
    </p:spTree>
    <p:extLst>
      <p:ext uri="{BB962C8B-B14F-4D97-AF65-F5344CB8AC3E}">
        <p14:creationId xmlns:p14="http://schemas.microsoft.com/office/powerpoint/2010/main" val="34050291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480</Words>
  <Application>Microsoft Office PowerPoint</Application>
  <PresentationFormat>사용자 지정</PresentationFormat>
  <Paragraphs>87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scwpark</dc:creator>
  <cp:keywords/>
  <dc:description>generated using python-pptx</dc:description>
  <cp:lastModifiedBy>성태 박</cp:lastModifiedBy>
  <cp:revision>4</cp:revision>
  <dcterms:created xsi:type="dcterms:W3CDTF">2013-01-27T09:14:16Z</dcterms:created>
  <dcterms:modified xsi:type="dcterms:W3CDTF">2026-03-21T11:32:16Z</dcterms:modified>
  <cp:category/>
</cp:coreProperties>
</file>